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4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20" r:id="rId5"/>
    <p:sldId id="31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3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  <p:sldId id="281" r:id="rId31"/>
    <p:sldId id="284" r:id="rId32"/>
    <p:sldId id="285" r:id="rId33"/>
    <p:sldId id="286" r:id="rId34"/>
    <p:sldId id="287" r:id="rId35"/>
    <p:sldId id="288" r:id="rId36"/>
    <p:sldId id="290" r:id="rId37"/>
    <p:sldId id="289" r:id="rId38"/>
    <p:sldId id="291" r:id="rId39"/>
    <p:sldId id="292" r:id="rId40"/>
    <p:sldId id="293" r:id="rId41"/>
    <p:sldId id="294" r:id="rId42"/>
    <p:sldId id="296" r:id="rId43"/>
    <p:sldId id="322" r:id="rId44"/>
    <p:sldId id="297" r:id="rId45"/>
    <p:sldId id="298" r:id="rId46"/>
    <p:sldId id="299" r:id="rId47"/>
    <p:sldId id="300" r:id="rId48"/>
    <p:sldId id="301" r:id="rId49"/>
    <p:sldId id="316" r:id="rId50"/>
    <p:sldId id="302" r:id="rId51"/>
    <p:sldId id="303" r:id="rId52"/>
    <p:sldId id="304" r:id="rId53"/>
    <p:sldId id="305" r:id="rId54"/>
    <p:sldId id="306" r:id="rId55"/>
    <p:sldId id="307" r:id="rId56"/>
    <p:sldId id="317" r:id="rId57"/>
    <p:sldId id="321" r:id="rId58"/>
    <p:sldId id="308" r:id="rId59"/>
    <p:sldId id="309" r:id="rId60"/>
    <p:sldId id="310" r:id="rId61"/>
    <p:sldId id="311" r:id="rId62"/>
    <p:sldId id="312" r:id="rId63"/>
    <p:sldId id="313" r:id="rId64"/>
    <p:sldId id="318" r:id="rId65"/>
    <p:sldId id="314" r:id="rId66"/>
    <p:sldId id="315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475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316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59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551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158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996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090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297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284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96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878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022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430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6036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534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0663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77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B42F7-8D4D-4181-A117-B3A619B411A5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13EF6-BEDB-4F49-8C02-75FA679E47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4710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F70DA-EA41-48BD-B72A-84C290EE42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solidFill>
                  <a:srgbClr val="FF0000"/>
                </a:solidFill>
              </a:rPr>
              <a:t>Programación básica desde cero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556B8F-9BA3-4C1E-99BA-F9D783E54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4402138"/>
            <a:ext cx="9001462" cy="1655762"/>
          </a:xfrm>
        </p:spPr>
        <p:txBody>
          <a:bodyPr>
            <a:normAutofit fontScale="77500" lnSpcReduction="20000"/>
          </a:bodyPr>
          <a:lstStyle/>
          <a:p>
            <a:r>
              <a:rPr lang="es-MX" dirty="0">
                <a:solidFill>
                  <a:srgbClr val="FF0000"/>
                </a:solidFill>
              </a:rPr>
              <a:t>Sebastian Guevara Sanchez</a:t>
            </a:r>
          </a:p>
          <a:p>
            <a:r>
              <a:rPr lang="es-MX" dirty="0">
                <a:solidFill>
                  <a:srgbClr val="FF0000"/>
                </a:solidFill>
              </a:rPr>
              <a:t>Ingeniero de sistemas</a:t>
            </a:r>
          </a:p>
          <a:p>
            <a:r>
              <a:rPr lang="es-MX" dirty="0">
                <a:solidFill>
                  <a:srgbClr val="FF0000"/>
                </a:solidFill>
              </a:rPr>
              <a:t>20250910 </a:t>
            </a:r>
          </a:p>
          <a:p>
            <a:r>
              <a:rPr lang="es-MX" dirty="0">
                <a:solidFill>
                  <a:srgbClr val="FF0000"/>
                </a:solidFill>
              </a:rPr>
              <a:t>Santiago de Cali - Colombia</a:t>
            </a:r>
            <a:endParaRPr lang="es-C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81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8D817-4A95-4AA0-85F4-01777AF2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rgbClr val="FF0000"/>
                </a:solidFill>
              </a:rPr>
              <a:t>índice 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C7C003-FD1E-46DD-B16A-7DB90A3A6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272759"/>
            <a:ext cx="6181205" cy="5585241"/>
          </a:xfrm>
        </p:spPr>
        <p:txBody>
          <a:bodyPr>
            <a:normAutofit fontScale="92500"/>
          </a:bodyPr>
          <a:lstStyle/>
          <a:p>
            <a:r>
              <a:rPr lang="es-CO" sz="3600" dirty="0">
                <a:solidFill>
                  <a:srgbClr val="FF0000"/>
                </a:solidFill>
              </a:rPr>
              <a:t>Lenguajes de programación</a:t>
            </a:r>
          </a:p>
          <a:p>
            <a:r>
              <a:rPr lang="es-CO" sz="3600" dirty="0">
                <a:solidFill>
                  <a:srgbClr val="FF0000"/>
                </a:solidFill>
              </a:rPr>
              <a:t>Variables</a:t>
            </a:r>
          </a:p>
          <a:p>
            <a:r>
              <a:rPr lang="es-CO" sz="3600" dirty="0">
                <a:solidFill>
                  <a:srgbClr val="FF0000"/>
                </a:solidFill>
              </a:rPr>
              <a:t>Vectores</a:t>
            </a:r>
          </a:p>
          <a:p>
            <a:r>
              <a:rPr lang="es-CO" sz="3600" dirty="0">
                <a:solidFill>
                  <a:srgbClr val="FF0000"/>
                </a:solidFill>
              </a:rPr>
              <a:t>Matrices</a:t>
            </a:r>
          </a:p>
          <a:p>
            <a:r>
              <a:rPr lang="es-CO" sz="3600" dirty="0">
                <a:solidFill>
                  <a:srgbClr val="FF0000"/>
                </a:solidFill>
              </a:rPr>
              <a:t>Condicionales</a:t>
            </a:r>
          </a:p>
          <a:p>
            <a:pPr marL="0" indent="0">
              <a:buNone/>
            </a:pPr>
            <a:r>
              <a:rPr lang="es-CO" sz="3600" dirty="0">
                <a:solidFill>
                  <a:srgbClr val="FF0000"/>
                </a:solidFill>
              </a:rPr>
              <a:t>--- </a:t>
            </a:r>
            <a:r>
              <a:rPr lang="es-CO" sz="3600" dirty="0" err="1">
                <a:solidFill>
                  <a:srgbClr val="FF0000"/>
                </a:solidFill>
              </a:rPr>
              <a:t>If</a:t>
            </a:r>
            <a:endParaRPr lang="es-CO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CO" sz="3600" dirty="0">
                <a:solidFill>
                  <a:srgbClr val="FF0000"/>
                </a:solidFill>
              </a:rPr>
              <a:t>--- </a:t>
            </a:r>
            <a:r>
              <a:rPr lang="es-CO" sz="3600" dirty="0" err="1">
                <a:solidFill>
                  <a:srgbClr val="FF0000"/>
                </a:solidFill>
              </a:rPr>
              <a:t>Switch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1343132-D290-471E-8353-83F9C547514B}"/>
              </a:ext>
            </a:extLst>
          </p:cNvPr>
          <p:cNvSpPr txBox="1">
            <a:spLocks/>
          </p:cNvSpPr>
          <p:nvPr/>
        </p:nvSpPr>
        <p:spPr>
          <a:xfrm>
            <a:off x="7305675" y="1402520"/>
            <a:ext cx="5905499" cy="4950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CO" sz="3200" dirty="0">
                <a:solidFill>
                  <a:srgbClr val="FF0000"/>
                </a:solidFill>
              </a:rPr>
              <a:t>Ciclos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3200" dirty="0">
                <a:solidFill>
                  <a:srgbClr val="FF0000"/>
                </a:solidFill>
              </a:rPr>
              <a:t>--- </a:t>
            </a:r>
            <a:r>
              <a:rPr lang="es-CO" sz="3200" dirty="0" err="1">
                <a:solidFill>
                  <a:srgbClr val="FF0000"/>
                </a:solidFill>
              </a:rPr>
              <a:t>While</a:t>
            </a:r>
            <a:endParaRPr lang="es-CO" sz="3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3200" dirty="0">
                <a:solidFill>
                  <a:srgbClr val="FF0000"/>
                </a:solidFill>
              </a:rPr>
              <a:t>--- </a:t>
            </a:r>
            <a:r>
              <a:rPr lang="es-CO" sz="3200" dirty="0" err="1">
                <a:solidFill>
                  <a:srgbClr val="FF0000"/>
                </a:solidFill>
              </a:rPr>
              <a:t>For</a:t>
            </a:r>
            <a:endParaRPr lang="es-CO" sz="3200" dirty="0">
              <a:solidFill>
                <a:srgbClr val="FF0000"/>
              </a:solidFill>
            </a:endParaRPr>
          </a:p>
          <a:p>
            <a:r>
              <a:rPr lang="es-CO" sz="3600" dirty="0">
                <a:solidFill>
                  <a:srgbClr val="FF0000"/>
                </a:solidFill>
              </a:rPr>
              <a:t>Objetos</a:t>
            </a:r>
            <a:endParaRPr lang="es-CO" sz="3200" dirty="0">
              <a:solidFill>
                <a:srgbClr val="FF0000"/>
              </a:solidFill>
            </a:endParaRPr>
          </a:p>
          <a:p>
            <a:r>
              <a:rPr lang="es-CO" sz="3200" dirty="0">
                <a:solidFill>
                  <a:srgbClr val="FF0000"/>
                </a:solidFill>
              </a:rPr>
              <a:t>Base de datos</a:t>
            </a:r>
          </a:p>
          <a:p>
            <a:r>
              <a:rPr lang="es-CO" sz="3200" dirty="0" err="1">
                <a:solidFill>
                  <a:srgbClr val="FF0000"/>
                </a:solidFill>
              </a:rPr>
              <a:t>Html</a:t>
            </a:r>
            <a:endParaRPr lang="es-CO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33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3A1C5-D1AD-4457-B503-262A3001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3200" dirty="0">
                <a:solidFill>
                  <a:srgbClr val="FF0000"/>
                </a:solidFill>
              </a:rPr>
              <a:t>Lenguajes de programación</a:t>
            </a:r>
            <a:br>
              <a:rPr lang="es-CO" sz="3200" dirty="0">
                <a:solidFill>
                  <a:srgbClr val="FF0000"/>
                </a:solidFill>
              </a:rPr>
            </a:br>
            <a:br>
              <a:rPr lang="es-MX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74058-DF23-4E5C-828C-0ACADAF5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1304925"/>
            <a:ext cx="11020425" cy="5086349"/>
          </a:xfrm>
        </p:spPr>
        <p:txBody>
          <a:bodyPr>
            <a:normAutofit fontScale="92500" lnSpcReduction="20000"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PROGRAMACION :</a:t>
            </a: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Es organizar una secuencia de pasos para hacer un algo.</a:t>
            </a:r>
          </a:p>
          <a:p>
            <a:pPr marL="0" indent="0">
              <a:buNone/>
            </a:pPr>
            <a:endParaRPr lang="es-MX" sz="3200" dirty="0">
              <a:solidFill>
                <a:srgbClr val="FF0000"/>
              </a:solidFill>
            </a:endParaRPr>
          </a:p>
          <a:p>
            <a:r>
              <a:rPr lang="es-MX" sz="3200" dirty="0">
                <a:solidFill>
                  <a:srgbClr val="FF0000"/>
                </a:solidFill>
              </a:rPr>
              <a:t>TIPOS DE LENGUAJE DE PROGRAMACION:</a:t>
            </a: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dependiendo su nivel de lógica, lenguaje maquina o cercana al idioma humano:</a:t>
            </a: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- Lenguajes de bajo nivel :  </a:t>
            </a:r>
            <a:r>
              <a:rPr lang="pt-BR" sz="3200" dirty="0" err="1">
                <a:solidFill>
                  <a:srgbClr val="FF0000"/>
                </a:solidFill>
              </a:rPr>
              <a:t>Lenguaje</a:t>
            </a:r>
            <a:r>
              <a:rPr lang="pt-BR" sz="3200" dirty="0">
                <a:solidFill>
                  <a:srgbClr val="FF0000"/>
                </a:solidFill>
              </a:rPr>
              <a:t> ensamblador (Assembly), Código máquina (</a:t>
            </a:r>
            <a:r>
              <a:rPr lang="pt-BR" sz="3200" dirty="0" err="1">
                <a:solidFill>
                  <a:srgbClr val="FF0000"/>
                </a:solidFill>
              </a:rPr>
              <a:t>binario</a:t>
            </a:r>
            <a:r>
              <a:rPr lang="pt-BR" sz="3200" dirty="0">
                <a:solidFill>
                  <a:srgbClr val="FF0000"/>
                </a:solidFill>
              </a:rPr>
              <a:t> o hexadecimal)</a:t>
            </a:r>
            <a:endParaRPr lang="es-MX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- Lenguajes de alto nivel : Python, Java, C++, Ruby, JavaScript</a:t>
            </a:r>
          </a:p>
        </p:txBody>
      </p:sp>
    </p:spTree>
    <p:extLst>
      <p:ext uri="{BB962C8B-B14F-4D97-AF65-F5344CB8AC3E}">
        <p14:creationId xmlns:p14="http://schemas.microsoft.com/office/powerpoint/2010/main" val="9077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3A1C5-D1AD-4457-B503-262A3001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3200" dirty="0">
                <a:solidFill>
                  <a:srgbClr val="FF0000"/>
                </a:solidFill>
              </a:rPr>
              <a:t>Lenguajes de programación</a:t>
            </a:r>
            <a:br>
              <a:rPr lang="es-CO" sz="3200" dirty="0">
                <a:solidFill>
                  <a:srgbClr val="FF0000"/>
                </a:solidFill>
              </a:rPr>
            </a:br>
            <a:br>
              <a:rPr lang="es-MX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74058-DF23-4E5C-828C-0ACADAF5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1304925"/>
            <a:ext cx="11020425" cy="5086349"/>
          </a:xfrm>
        </p:spPr>
        <p:txBody>
          <a:bodyPr>
            <a:normAutofit fontScale="55000" lnSpcReduction="20000"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FRAMEWORK :</a:t>
            </a: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Un marco de trabajo es un grupo de reglas, </a:t>
            </a:r>
            <a:r>
              <a:rPr lang="es-MX" sz="3200" dirty="0" err="1">
                <a:solidFill>
                  <a:srgbClr val="FF0000"/>
                </a:solidFill>
              </a:rPr>
              <a:t>librerias</a:t>
            </a:r>
            <a:r>
              <a:rPr lang="es-MX" sz="3200" dirty="0">
                <a:solidFill>
                  <a:srgbClr val="FF0000"/>
                </a:solidFill>
              </a:rPr>
              <a:t> y pasos que se realizan para crear un software</a:t>
            </a:r>
          </a:p>
          <a:p>
            <a:pPr marL="0" indent="0">
              <a:buNone/>
            </a:pPr>
            <a:endParaRPr lang="es-MX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TIPOS DE FRAMEWORK:</a:t>
            </a:r>
          </a:p>
          <a:p>
            <a:pPr>
              <a:buFontTx/>
              <a:buChar char="-"/>
            </a:pPr>
            <a:r>
              <a:rPr lang="es-MX" sz="3200" dirty="0">
                <a:solidFill>
                  <a:srgbClr val="FF0000"/>
                </a:solidFill>
              </a:rPr>
              <a:t>FRAMEWORK WEB:  </a:t>
            </a:r>
            <a:r>
              <a:rPr lang="es-MX" sz="3200" dirty="0" err="1">
                <a:solidFill>
                  <a:srgbClr val="FF0000"/>
                </a:solidFill>
              </a:rPr>
              <a:t>React</a:t>
            </a:r>
            <a:r>
              <a:rPr lang="es-MX" sz="3200" dirty="0">
                <a:solidFill>
                  <a:srgbClr val="FF0000"/>
                </a:solidFill>
              </a:rPr>
              <a:t> (JavaScript), Angular (</a:t>
            </a:r>
            <a:r>
              <a:rPr lang="es-MX" sz="3200" dirty="0" err="1">
                <a:solidFill>
                  <a:srgbClr val="FF0000"/>
                </a:solidFill>
              </a:rPr>
              <a:t>TypeScript</a:t>
            </a:r>
            <a:r>
              <a:rPr lang="es-MX" sz="3200" dirty="0">
                <a:solidFill>
                  <a:srgbClr val="FF0000"/>
                </a:solidFill>
              </a:rPr>
              <a:t>) , Vue.js (JavaScript), </a:t>
            </a:r>
            <a:r>
              <a:rPr lang="es-MX" sz="3200" dirty="0" err="1">
                <a:solidFill>
                  <a:srgbClr val="FF0000"/>
                </a:solidFill>
              </a:rPr>
              <a:t>Svelte</a:t>
            </a:r>
            <a:r>
              <a:rPr lang="es-MX" sz="3200" dirty="0">
                <a:solidFill>
                  <a:srgbClr val="FF0000"/>
                </a:solidFill>
              </a:rPr>
              <a:t>, Django (Python)</a:t>
            </a:r>
          </a:p>
          <a:p>
            <a:pPr>
              <a:buFontTx/>
              <a:buChar char="-"/>
            </a:pPr>
            <a:r>
              <a:rPr lang="es-MX" sz="3200" dirty="0">
                <a:solidFill>
                  <a:srgbClr val="FF0000"/>
                </a:solidFill>
              </a:rPr>
              <a:t>FRAMEWORK MOVILES:  </a:t>
            </a:r>
            <a:r>
              <a:rPr lang="es-MX" sz="3200" dirty="0" err="1">
                <a:solidFill>
                  <a:srgbClr val="FF0000"/>
                </a:solidFill>
              </a:rPr>
              <a:t>Flutter</a:t>
            </a:r>
            <a:r>
              <a:rPr lang="es-MX" sz="3200" dirty="0">
                <a:solidFill>
                  <a:srgbClr val="FF0000"/>
                </a:solidFill>
              </a:rPr>
              <a:t> (Dart), </a:t>
            </a:r>
            <a:r>
              <a:rPr lang="es-MX" sz="3200" dirty="0" err="1">
                <a:solidFill>
                  <a:srgbClr val="FF0000"/>
                </a:solidFill>
              </a:rPr>
              <a:t>React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  <a:r>
              <a:rPr lang="es-MX" sz="3200" dirty="0" err="1">
                <a:solidFill>
                  <a:srgbClr val="FF0000"/>
                </a:solidFill>
              </a:rPr>
              <a:t>Native</a:t>
            </a:r>
            <a:r>
              <a:rPr lang="es-MX" sz="3200" dirty="0">
                <a:solidFill>
                  <a:srgbClr val="FF0000"/>
                </a:solidFill>
              </a:rPr>
              <a:t> (JavaScript), </a:t>
            </a:r>
            <a:r>
              <a:rPr lang="es-MX" sz="3200" dirty="0" err="1">
                <a:solidFill>
                  <a:srgbClr val="FF0000"/>
                </a:solidFill>
              </a:rPr>
              <a:t>Ionic</a:t>
            </a:r>
            <a:r>
              <a:rPr lang="es-MX" sz="3200" dirty="0">
                <a:solidFill>
                  <a:srgbClr val="FF0000"/>
                </a:solidFill>
              </a:rPr>
              <a:t> (JavaScript/</a:t>
            </a:r>
            <a:r>
              <a:rPr lang="es-MX" sz="3200" dirty="0" err="1">
                <a:solidFill>
                  <a:srgbClr val="FF0000"/>
                </a:solidFill>
              </a:rPr>
              <a:t>TypeScript</a:t>
            </a:r>
            <a:endParaRPr lang="es-MX" sz="3200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s-MX" sz="3200" dirty="0">
                <a:solidFill>
                  <a:srgbClr val="FF0000"/>
                </a:solidFill>
              </a:rPr>
              <a:t>FRAMEWORK  DE ESCRITORIO:  </a:t>
            </a:r>
            <a:r>
              <a:rPr lang="es-MX" sz="3200" dirty="0" err="1">
                <a:solidFill>
                  <a:srgbClr val="FF0000"/>
                </a:solidFill>
              </a:rPr>
              <a:t>Electron</a:t>
            </a:r>
            <a:r>
              <a:rPr lang="es-MX" sz="3200" dirty="0">
                <a:solidFill>
                  <a:srgbClr val="FF0000"/>
                </a:solidFill>
              </a:rPr>
              <a:t> (JavaScript), Qt (C++), </a:t>
            </a:r>
            <a:r>
              <a:rPr lang="es-MX" sz="3200" dirty="0" err="1">
                <a:solidFill>
                  <a:srgbClr val="FF0000"/>
                </a:solidFill>
              </a:rPr>
              <a:t>Tkinter</a:t>
            </a:r>
            <a:r>
              <a:rPr lang="es-MX" sz="3200" dirty="0">
                <a:solidFill>
                  <a:srgbClr val="FF0000"/>
                </a:solidFill>
              </a:rPr>
              <a:t> (Python), WPF (Windows, C#), </a:t>
            </a:r>
          </a:p>
          <a:p>
            <a:pPr>
              <a:buFontTx/>
              <a:buChar char="-"/>
            </a:pPr>
            <a:r>
              <a:rPr lang="es-MX" sz="3200" dirty="0">
                <a:solidFill>
                  <a:srgbClr val="FF0000"/>
                </a:solidFill>
              </a:rPr>
              <a:t>FRAMEWORK DE VIDEOJUEGOS:  </a:t>
            </a:r>
            <a:r>
              <a:rPr lang="en-US" sz="3200" dirty="0">
                <a:solidFill>
                  <a:srgbClr val="FF0000"/>
                </a:solidFill>
              </a:rPr>
              <a:t>Unity (C#), Unreal Engine (C++), Godot (</a:t>
            </a:r>
            <a:r>
              <a:rPr lang="en-US" sz="3200" dirty="0" err="1">
                <a:solidFill>
                  <a:srgbClr val="FF0000"/>
                </a:solidFill>
              </a:rPr>
              <a:t>GDScript</a:t>
            </a:r>
            <a:r>
              <a:rPr lang="en-US" sz="3200" dirty="0">
                <a:solidFill>
                  <a:srgbClr val="FF0000"/>
                </a:solidFill>
              </a:rPr>
              <a:t> / C#), </a:t>
            </a:r>
            <a:r>
              <a:rPr lang="en-US" sz="3200" dirty="0" err="1">
                <a:solidFill>
                  <a:srgbClr val="FF0000"/>
                </a:solidFill>
              </a:rPr>
              <a:t>Pygame</a:t>
            </a:r>
            <a:r>
              <a:rPr lang="en-US" sz="3200" dirty="0">
                <a:solidFill>
                  <a:srgbClr val="FF0000"/>
                </a:solidFill>
              </a:rPr>
              <a:t> (Python)</a:t>
            </a:r>
            <a:endParaRPr lang="es-MX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- FRAMEWORK DE PRUEBAS:  </a:t>
            </a:r>
            <a:r>
              <a:rPr lang="es-MX" sz="3200" dirty="0" err="1">
                <a:solidFill>
                  <a:srgbClr val="FF0000"/>
                </a:solidFill>
              </a:rPr>
              <a:t>JUnit</a:t>
            </a:r>
            <a:r>
              <a:rPr lang="es-MX" sz="3200" dirty="0">
                <a:solidFill>
                  <a:srgbClr val="FF0000"/>
                </a:solidFill>
              </a:rPr>
              <a:t> (Java), </a:t>
            </a:r>
            <a:r>
              <a:rPr lang="es-MX" sz="3200" dirty="0" err="1">
                <a:solidFill>
                  <a:srgbClr val="FF0000"/>
                </a:solidFill>
              </a:rPr>
              <a:t>PyTest</a:t>
            </a:r>
            <a:r>
              <a:rPr lang="es-MX" sz="3200" dirty="0">
                <a:solidFill>
                  <a:srgbClr val="FF0000"/>
                </a:solidFill>
              </a:rPr>
              <a:t> (Python), </a:t>
            </a:r>
            <a:r>
              <a:rPr lang="es-MX" sz="3200" dirty="0" err="1">
                <a:solidFill>
                  <a:srgbClr val="FF0000"/>
                </a:solidFill>
              </a:rPr>
              <a:t>Jest</a:t>
            </a:r>
            <a:r>
              <a:rPr lang="es-MX" sz="3200" dirty="0">
                <a:solidFill>
                  <a:srgbClr val="FF0000"/>
                </a:solidFill>
              </a:rPr>
              <a:t> (JavaScript), Mocha (JavaScript), </a:t>
            </a:r>
            <a:r>
              <a:rPr lang="es-MX" sz="3200" dirty="0" err="1">
                <a:solidFill>
                  <a:srgbClr val="FF0000"/>
                </a:solidFill>
              </a:rPr>
              <a:t>Selenium</a:t>
            </a:r>
            <a:r>
              <a:rPr lang="es-MX" sz="3200" dirty="0">
                <a:solidFill>
                  <a:srgbClr val="FF0000"/>
                </a:solidFill>
              </a:rPr>
              <a:t>  (Python)</a:t>
            </a:r>
          </a:p>
        </p:txBody>
      </p:sp>
    </p:spTree>
    <p:extLst>
      <p:ext uri="{BB962C8B-B14F-4D97-AF65-F5344CB8AC3E}">
        <p14:creationId xmlns:p14="http://schemas.microsoft.com/office/powerpoint/2010/main" val="116336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3A1C5-D1AD-4457-B503-262A3001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FF0000"/>
                </a:solidFill>
              </a:rPr>
              <a:t>variables</a:t>
            </a:r>
            <a:br>
              <a:rPr lang="es-MX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74058-DF23-4E5C-828C-0ACADAF5F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2096063"/>
            <a:ext cx="10800832" cy="4295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3200" dirty="0">
              <a:solidFill>
                <a:srgbClr val="FF0000"/>
              </a:solidFill>
            </a:endParaRPr>
          </a:p>
          <a:p>
            <a:r>
              <a:rPr lang="es-MX" sz="3200" dirty="0">
                <a:solidFill>
                  <a:srgbClr val="FF0000"/>
                </a:solidFill>
              </a:rPr>
              <a:t>VARIABLE EN PROGRAMACION:</a:t>
            </a:r>
          </a:p>
          <a:p>
            <a:pPr marL="0" indent="0">
              <a:buNone/>
            </a:pPr>
            <a:r>
              <a:rPr lang="es-MX" sz="3200" dirty="0">
                <a:solidFill>
                  <a:srgbClr val="FF0000"/>
                </a:solidFill>
              </a:rPr>
              <a:t>un espacio de almacenamiento, con nombre e información, que se puede usar en un programa de computación.</a:t>
            </a:r>
          </a:p>
        </p:txBody>
      </p:sp>
    </p:spTree>
    <p:extLst>
      <p:ext uri="{BB962C8B-B14F-4D97-AF65-F5344CB8AC3E}">
        <p14:creationId xmlns:p14="http://schemas.microsoft.com/office/powerpoint/2010/main" val="185176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1B480-D648-402D-9D99-1CD6EE29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276225"/>
            <a:ext cx="10353761" cy="1326321"/>
          </a:xfrm>
        </p:spPr>
        <p:txBody>
          <a:bodyPr/>
          <a:lstStyle/>
          <a:p>
            <a:br>
              <a:rPr lang="es-CO" dirty="0">
                <a:solidFill>
                  <a:srgbClr val="FF0000"/>
                </a:solidFill>
              </a:rPr>
            </a:br>
            <a:r>
              <a:rPr lang="es-CO" dirty="0">
                <a:solidFill>
                  <a:srgbClr val="FF0000"/>
                </a:solidFill>
              </a:rPr>
              <a:t>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B46741-2C4B-470B-BF5A-EF75291E8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sz="3900" dirty="0">
                <a:solidFill>
                  <a:srgbClr val="FF0000"/>
                </a:solidFill>
              </a:rPr>
              <a:t>Tipo de variable </a:t>
            </a:r>
          </a:p>
          <a:p>
            <a:r>
              <a:rPr lang="es-CO" sz="3200" dirty="0">
                <a:solidFill>
                  <a:srgbClr val="FF0000"/>
                </a:solidFill>
              </a:rPr>
              <a:t>Tipo de dato lógico o booleano (verdadero/1 o falso/0).</a:t>
            </a:r>
          </a:p>
          <a:p>
            <a:r>
              <a:rPr lang="es-CO" sz="3200" dirty="0">
                <a:solidFill>
                  <a:srgbClr val="FF0000"/>
                </a:solidFill>
              </a:rPr>
              <a:t>Tipo de dato entero (real, sin decimales).</a:t>
            </a:r>
          </a:p>
          <a:p>
            <a:r>
              <a:rPr lang="es-CO" sz="3200" dirty="0">
                <a:solidFill>
                  <a:srgbClr val="FF0000"/>
                </a:solidFill>
              </a:rPr>
              <a:t>Tipo de dato de coma flotante (real, con decimales).</a:t>
            </a:r>
          </a:p>
          <a:p>
            <a:r>
              <a:rPr lang="es-CO" sz="3200" dirty="0">
                <a:solidFill>
                  <a:srgbClr val="FF0000"/>
                </a:solidFill>
              </a:rPr>
              <a:t>Tipo de dato carácter. (Letra o dato)</a:t>
            </a:r>
          </a:p>
          <a:p>
            <a:r>
              <a:rPr lang="es-CO" sz="3200" dirty="0">
                <a:solidFill>
                  <a:srgbClr val="FF0000"/>
                </a:solidFill>
              </a:rPr>
              <a:t>Tipo de dato cadena (cadena de texto).</a:t>
            </a:r>
          </a:p>
        </p:txBody>
      </p:sp>
    </p:spTree>
    <p:extLst>
      <p:ext uri="{BB962C8B-B14F-4D97-AF65-F5344CB8AC3E}">
        <p14:creationId xmlns:p14="http://schemas.microsoft.com/office/powerpoint/2010/main" val="1157376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MX" sz="3200" dirty="0"/>
            </a:br>
            <a:r>
              <a:rPr lang="es-MX" sz="3200" dirty="0">
                <a:solidFill>
                  <a:srgbClr val="FF0000"/>
                </a:solidFill>
              </a:rPr>
              <a:t>VARIABLES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3AA0EF-A55A-400A-A9AC-8E7527127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3600" dirty="0">
                <a:solidFill>
                  <a:srgbClr val="FF0000"/>
                </a:solidFill>
              </a:rPr>
              <a:t>Consejos al declarar variables :</a:t>
            </a:r>
          </a:p>
          <a:p>
            <a:pPr marL="0" indent="0">
              <a:buNone/>
            </a:pPr>
            <a:r>
              <a:rPr lang="es-MX" sz="3600" dirty="0">
                <a:solidFill>
                  <a:srgbClr val="FF0000"/>
                </a:solidFill>
              </a:rPr>
              <a:t>No utilices espacios. </a:t>
            </a:r>
          </a:p>
          <a:p>
            <a:pPr marL="0" indent="0">
              <a:buNone/>
            </a:pPr>
            <a:r>
              <a:rPr lang="es-MX" sz="3600" dirty="0">
                <a:solidFill>
                  <a:srgbClr val="FF0000"/>
                </a:solidFill>
              </a:rPr>
              <a:t>No empieces con un número. </a:t>
            </a:r>
          </a:p>
          <a:p>
            <a:pPr marL="0" indent="0">
              <a:buNone/>
            </a:pPr>
            <a:r>
              <a:rPr lang="es-MX" sz="3600" dirty="0">
                <a:solidFill>
                  <a:srgbClr val="FF0000"/>
                </a:solidFill>
              </a:rPr>
              <a:t>No utilices una palabra reservada. (</a:t>
            </a:r>
            <a:r>
              <a:rPr lang="es-MX" sz="3600" dirty="0" err="1">
                <a:solidFill>
                  <a:srgbClr val="FF0000"/>
                </a:solidFill>
              </a:rPr>
              <a:t>if</a:t>
            </a:r>
            <a:r>
              <a:rPr lang="es-MX" sz="3600" dirty="0">
                <a:solidFill>
                  <a:srgbClr val="FF0000"/>
                </a:solidFill>
              </a:rPr>
              <a:t>, </a:t>
            </a:r>
            <a:r>
              <a:rPr lang="es-MX" sz="3600" dirty="0" err="1">
                <a:solidFill>
                  <a:srgbClr val="FF0000"/>
                </a:solidFill>
              </a:rPr>
              <a:t>while</a:t>
            </a:r>
            <a:r>
              <a:rPr lang="es-MX" sz="3600" dirty="0">
                <a:solidFill>
                  <a:srgbClr val="FF0000"/>
                </a:solidFill>
              </a:rPr>
              <a:t>, </a:t>
            </a:r>
            <a:r>
              <a:rPr lang="es-MX" sz="3600" dirty="0" err="1">
                <a:solidFill>
                  <a:srgbClr val="FF0000"/>
                </a:solidFill>
              </a:rPr>
              <a:t>for</a:t>
            </a:r>
            <a:r>
              <a:rPr lang="es-MX" sz="3600" dirty="0">
                <a:solidFill>
                  <a:srgbClr val="FF0000"/>
                </a:solidFill>
              </a:rPr>
              <a:t>…) </a:t>
            </a:r>
            <a:endParaRPr lang="es-CO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56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3350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variables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66A680-8BFB-4B73-8912-308D7EA38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943" y="1674912"/>
            <a:ext cx="6984857" cy="480208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542D3B6-2833-455D-96E5-397C00F7954B}"/>
              </a:ext>
            </a:extLst>
          </p:cNvPr>
          <p:cNvSpPr txBox="1"/>
          <p:nvPr/>
        </p:nvSpPr>
        <p:spPr>
          <a:xfrm>
            <a:off x="3705224" y="874794"/>
            <a:ext cx="56102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C : DECLARACION DE VARIABLES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422305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3471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variables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61813F-7C47-44F1-B490-BA12B1609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99" y="1519792"/>
            <a:ext cx="5499012" cy="505480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657A750-28AA-49F5-A541-3955167F5C42}"/>
              </a:ext>
            </a:extLst>
          </p:cNvPr>
          <p:cNvSpPr txBox="1"/>
          <p:nvPr/>
        </p:nvSpPr>
        <p:spPr>
          <a:xfrm>
            <a:off x="3352800" y="986611"/>
            <a:ext cx="5876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JAVA  : DECLARACION DE VARIABLES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84945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variables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C1E16B-8569-4089-BE8B-A9A9B44DD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31" y="2193096"/>
            <a:ext cx="8432969" cy="43578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C93D597-EDC3-4C64-90F4-2E4F8B3099DC}"/>
              </a:ext>
            </a:extLst>
          </p:cNvPr>
          <p:cNvSpPr txBox="1"/>
          <p:nvPr/>
        </p:nvSpPr>
        <p:spPr>
          <a:xfrm>
            <a:off x="2962275" y="1474256"/>
            <a:ext cx="7639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PHP  : DECLARACION DE VARIABLES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41225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1326321"/>
          </a:xfrm>
        </p:spPr>
        <p:txBody>
          <a:bodyPr>
            <a:normAutofit/>
          </a:bodyPr>
          <a:lstStyle/>
          <a:p>
            <a:br>
              <a:rPr lang="es-MX" sz="3200" dirty="0">
                <a:solidFill>
                  <a:srgbClr val="FF0000"/>
                </a:solidFill>
              </a:rPr>
            </a:br>
            <a:r>
              <a:rPr lang="es-MX" sz="3200" dirty="0">
                <a:solidFill>
                  <a:srgbClr val="FF0000"/>
                </a:solidFill>
              </a:rPr>
              <a:t>VARIABLES</a:t>
            </a:r>
            <a:endParaRPr lang="es-CO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C9C2F1-3F9E-40D9-BBDD-EBC5680B0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362199"/>
            <a:ext cx="10186267" cy="355282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64C6D8-BB77-4181-8414-D30623723352}"/>
              </a:ext>
            </a:extLst>
          </p:cNvPr>
          <p:cNvSpPr txBox="1"/>
          <p:nvPr/>
        </p:nvSpPr>
        <p:spPr>
          <a:xfrm>
            <a:off x="1438274" y="1326321"/>
            <a:ext cx="10658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PYTHON : DECLARACION DE VARIABLES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645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VECTORES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CC633C-0388-4C64-9547-174385039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54" y="2044384"/>
            <a:ext cx="4496952" cy="28026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F0CEB0D-D18A-4584-A169-9A543E045547}"/>
              </a:ext>
            </a:extLst>
          </p:cNvPr>
          <p:cNvSpPr txBox="1"/>
          <p:nvPr/>
        </p:nvSpPr>
        <p:spPr>
          <a:xfrm>
            <a:off x="257175" y="1374059"/>
            <a:ext cx="69913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ARREGLOS o VECTORES</a:t>
            </a:r>
          </a:p>
          <a:p>
            <a:r>
              <a:rPr lang="es-CO" sz="2800" dirty="0">
                <a:solidFill>
                  <a:srgbClr val="FF0000"/>
                </a:solidFill>
              </a:rPr>
              <a:t>Un arreglo es un grupo de variables organizadas en un vector o una matriz, donde cada </a:t>
            </a:r>
            <a:r>
              <a:rPr lang="es-CO" sz="2800" dirty="0" err="1">
                <a:solidFill>
                  <a:srgbClr val="FF0000"/>
                </a:solidFill>
              </a:rPr>
              <a:t>posicion</a:t>
            </a:r>
            <a:r>
              <a:rPr lang="es-CO" sz="2800" dirty="0">
                <a:solidFill>
                  <a:srgbClr val="FF0000"/>
                </a:solidFill>
              </a:rPr>
              <a:t> o </a:t>
            </a:r>
            <a:r>
              <a:rPr lang="es-CO" sz="2800" dirty="0" err="1">
                <a:solidFill>
                  <a:srgbClr val="FF0000"/>
                </a:solidFill>
              </a:rPr>
              <a:t>tambien</a:t>
            </a:r>
            <a:r>
              <a:rPr lang="es-CO" sz="2800" dirty="0">
                <a:solidFill>
                  <a:srgbClr val="FF0000"/>
                </a:solidFill>
              </a:rPr>
              <a:t> llamado variable tienen nombre e </a:t>
            </a:r>
            <a:r>
              <a:rPr lang="es-CO" sz="2800" dirty="0" err="1">
                <a:solidFill>
                  <a:srgbClr val="FF0000"/>
                </a:solidFill>
              </a:rPr>
              <a:t>informacion</a:t>
            </a:r>
            <a:r>
              <a:rPr lang="es-CO" sz="2800" dirty="0">
                <a:solidFill>
                  <a:srgbClr val="FF0000"/>
                </a:solidFill>
              </a:rPr>
              <a:t> interna.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2B3E7E-C168-4D28-93A3-57CC2C1B826D}"/>
              </a:ext>
            </a:extLst>
          </p:cNvPr>
          <p:cNvSpPr txBox="1"/>
          <p:nvPr/>
        </p:nvSpPr>
        <p:spPr>
          <a:xfrm>
            <a:off x="257175" y="4432518"/>
            <a:ext cx="94964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TIPOS DE ARREGLOS: </a:t>
            </a:r>
          </a:p>
          <a:p>
            <a:r>
              <a:rPr lang="es-CO" sz="2800" dirty="0">
                <a:solidFill>
                  <a:srgbClr val="FF0000"/>
                </a:solidFill>
              </a:rPr>
              <a:t>Arreglos unidimensionales.</a:t>
            </a:r>
          </a:p>
          <a:p>
            <a:r>
              <a:rPr lang="es-CO" sz="2800" dirty="0">
                <a:solidFill>
                  <a:srgbClr val="FF0000"/>
                </a:solidFill>
              </a:rPr>
              <a:t>Arreglos multidimensionales.</a:t>
            </a:r>
          </a:p>
          <a:p>
            <a:r>
              <a:rPr lang="es-CO" sz="2800" dirty="0">
                <a:solidFill>
                  <a:srgbClr val="FF0000"/>
                </a:solidFill>
              </a:rPr>
              <a:t>Arreglo con múltiple subíndices.</a:t>
            </a:r>
          </a:p>
        </p:txBody>
      </p:sp>
    </p:spTree>
    <p:extLst>
      <p:ext uri="{BB962C8B-B14F-4D97-AF65-F5344CB8AC3E}">
        <p14:creationId xmlns:p14="http://schemas.microsoft.com/office/powerpoint/2010/main" val="256863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E1D8C4-E8E2-4EB4-A499-E31268909AFD}"/>
              </a:ext>
            </a:extLst>
          </p:cNvPr>
          <p:cNvSpPr txBox="1"/>
          <p:nvPr/>
        </p:nvSpPr>
        <p:spPr>
          <a:xfrm>
            <a:off x="685800" y="1381036"/>
            <a:ext cx="107251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</a:p>
          <a:p>
            <a:r>
              <a:rPr lang="es-MX" sz="3200" dirty="0">
                <a:solidFill>
                  <a:srgbClr val="FF0000"/>
                </a:solidFill>
              </a:rPr>
              <a:t>Grupos de variables dentro de filas y columnas, que suelen crecer de manera vertical, horizontal o de las 2 maneras.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9298113-2876-482E-954F-FF207A00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3791629"/>
            <a:ext cx="7515225" cy="216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4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24858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7A76CB-BECD-4315-A89B-7C01B586E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50" y="1918140"/>
            <a:ext cx="4797425" cy="473607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39085DA-EF99-4B14-8553-58D5FC5F4E7C}"/>
              </a:ext>
            </a:extLst>
          </p:cNvPr>
          <p:cNvSpPr txBox="1"/>
          <p:nvPr/>
        </p:nvSpPr>
        <p:spPr>
          <a:xfrm>
            <a:off x="2592386" y="1006672"/>
            <a:ext cx="7007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 : Declaración y resta de matrices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07E7D93-71CD-466B-A42E-C325A3C7E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768086"/>
            <a:ext cx="5038725" cy="476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42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2587062" y="1425772"/>
            <a:ext cx="70072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 : Insertar datos a la matriz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8285E5-C587-4198-9F47-163E33D2C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874" y="2313225"/>
            <a:ext cx="8991600" cy="432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83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2276475" y="1351146"/>
            <a:ext cx="8991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JAVA : Crear matriz con ingreso de datos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B3B7AF-D77B-4763-9FC4-1A7D8E0B8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0" y="2010547"/>
            <a:ext cx="5000625" cy="46104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481B293-F9B0-4235-8AD5-A299DCAD8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675" y="2172919"/>
            <a:ext cx="6404327" cy="407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65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136628" y="1188834"/>
            <a:ext cx="9705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 : Ejemplo de mostrar los datos de una matriz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53219F-C596-4865-8F39-AE575DBD8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62" y="1868859"/>
            <a:ext cx="6652188" cy="49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2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870053" y="1188834"/>
            <a:ext cx="9705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PHP : Declarar matriz y mostrar en pantalla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7B635D-0B54-4A48-89F7-05347D700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527" y="1935921"/>
            <a:ext cx="7061304" cy="23594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7FEDB90-91C5-4B3F-89F6-5DBA11661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44" y="4457700"/>
            <a:ext cx="10339406" cy="195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7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6731" y="136708"/>
            <a:ext cx="4424406" cy="1209675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80975" y="1113021"/>
            <a:ext cx="39909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PYTHON : Declarar matriz y mostrar en pantalla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05FC8E-2D29-455E-9150-8636476E9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025" y="158142"/>
            <a:ext cx="7262855" cy="632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7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870053" y="1188834"/>
            <a:ext cx="9705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PYTHON : Otro ejemplo de crear matriz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18C42A-79B9-4F0E-A420-65FAD9A9F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756" y="1935921"/>
            <a:ext cx="6308100" cy="439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5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457325" y="1351146"/>
            <a:ext cx="10508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PYTHON : Mostrar variables de </a:t>
            </a:r>
            <a:r>
              <a:rPr lang="es-MX" sz="3200" dirty="0" err="1">
                <a:solidFill>
                  <a:srgbClr val="FF0000"/>
                </a:solidFill>
              </a:rPr>
              <a:t>de</a:t>
            </a:r>
            <a:r>
              <a:rPr lang="es-MX" sz="3200" dirty="0">
                <a:solidFill>
                  <a:srgbClr val="FF0000"/>
                </a:solidFill>
              </a:rPr>
              <a:t> una matriz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690243-2568-4F34-8A23-01EDCDE48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25" y="2352843"/>
            <a:ext cx="9143417" cy="408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MATRICES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7DBDC-7B5E-4CDD-B665-67E23077C574}"/>
              </a:ext>
            </a:extLst>
          </p:cNvPr>
          <p:cNvSpPr txBox="1"/>
          <p:nvPr/>
        </p:nvSpPr>
        <p:spPr>
          <a:xfrm>
            <a:off x="1457325" y="1351146"/>
            <a:ext cx="10508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PYTHON : Ingresar datos a una matriz desde consola</a:t>
            </a:r>
            <a:endParaRPr lang="es-CO" sz="32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87E6BC-FD5A-45F8-B40E-260C95864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70" y="2439137"/>
            <a:ext cx="9268855" cy="37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64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333376" y="2314576"/>
            <a:ext cx="112680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SECUENCIA: sucesos en un orden que se repiten.</a:t>
            </a:r>
          </a:p>
          <a:p>
            <a:endParaRPr lang="es-CO" sz="2800" dirty="0">
              <a:solidFill>
                <a:srgbClr val="FF0000"/>
              </a:solidFill>
            </a:endParaRPr>
          </a:p>
          <a:p>
            <a:r>
              <a:rPr lang="es-CO" sz="2800" dirty="0">
                <a:solidFill>
                  <a:srgbClr val="FF0000"/>
                </a:solidFill>
              </a:rPr>
              <a:t>CONDICIONALES:</a:t>
            </a:r>
          </a:p>
          <a:p>
            <a:r>
              <a:rPr lang="es-CO" sz="2800" dirty="0">
                <a:solidFill>
                  <a:srgbClr val="FF0000"/>
                </a:solidFill>
              </a:rPr>
              <a:t>En programación una condicional es una pregunta y dependiendo la respuesta se hacen un grupo de procesos.</a:t>
            </a:r>
          </a:p>
          <a:p>
            <a:r>
              <a:rPr lang="es-CO" sz="2800" dirty="0">
                <a:solidFill>
                  <a:srgbClr val="FF0000"/>
                </a:solidFill>
              </a:rPr>
              <a:t>Las condicionales tiene entrada de información, condición simple o compleja y múltiples posibles respuestas.</a:t>
            </a:r>
          </a:p>
        </p:txBody>
      </p:sp>
    </p:spTree>
    <p:extLst>
      <p:ext uri="{BB962C8B-B14F-4D97-AF65-F5344CB8AC3E}">
        <p14:creationId xmlns:p14="http://schemas.microsoft.com/office/powerpoint/2010/main" val="707313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3E631E-B28C-49CE-97EA-526F45745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357" y="1866899"/>
            <a:ext cx="5147418" cy="34457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3D7D216-CB5C-426A-8445-B71087BD6EBD}"/>
              </a:ext>
            </a:extLst>
          </p:cNvPr>
          <p:cNvSpPr txBox="1"/>
          <p:nvPr/>
        </p:nvSpPr>
        <p:spPr>
          <a:xfrm>
            <a:off x="238125" y="2047786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dirty="0">
                <a:solidFill>
                  <a:srgbClr val="FF0000"/>
                </a:solidFill>
              </a:rPr>
              <a:t>Una </a:t>
            </a:r>
            <a:r>
              <a:rPr lang="es-CO" sz="3200" dirty="0" err="1">
                <a:solidFill>
                  <a:srgbClr val="FF0000"/>
                </a:solidFill>
              </a:rPr>
              <a:t>condicion</a:t>
            </a:r>
            <a:r>
              <a:rPr lang="es-CO" sz="3200" dirty="0">
                <a:solidFill>
                  <a:srgbClr val="FF0000"/>
                </a:solidFill>
              </a:rPr>
              <a:t> simple tiene una variable de entrada, y 2 posibles salidas de respuesta, las posibles salidas son falso o verdadero y a cada salida se le puede programar un mensaje u otra condicional.</a:t>
            </a:r>
          </a:p>
        </p:txBody>
      </p:sp>
    </p:spTree>
    <p:extLst>
      <p:ext uri="{BB962C8B-B14F-4D97-AF65-F5344CB8AC3E}">
        <p14:creationId xmlns:p14="http://schemas.microsoft.com/office/powerpoint/2010/main" val="176057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1"/>
            <a:ext cx="10353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En la imagen hay un ejemplo de los diagramas una secuencia en azul claro, una condición simple en morado y un bucle en azul oscuro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453BE9-5208-4644-95AB-B18042438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3245680"/>
            <a:ext cx="9753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76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247650" y="1524002"/>
            <a:ext cx="116681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PYTHON: Este es un </a:t>
            </a:r>
            <a:r>
              <a:rPr lang="es-MX" sz="2800" dirty="0" err="1">
                <a:solidFill>
                  <a:srgbClr val="FF0000"/>
                </a:solidFill>
              </a:rPr>
              <a:t>ejempo</a:t>
            </a:r>
            <a:r>
              <a:rPr lang="es-MX" sz="2800" dirty="0">
                <a:solidFill>
                  <a:srgbClr val="FF0000"/>
                </a:solidFill>
              </a:rPr>
              <a:t> de un </a:t>
            </a:r>
            <a:r>
              <a:rPr lang="es-MX" sz="2800" dirty="0" err="1">
                <a:solidFill>
                  <a:srgbClr val="FF0000"/>
                </a:solidFill>
              </a:rPr>
              <a:t>if</a:t>
            </a:r>
            <a:r>
              <a:rPr lang="es-MX" sz="2800" dirty="0">
                <a:solidFill>
                  <a:srgbClr val="FF0000"/>
                </a:solidFill>
              </a:rPr>
              <a:t> compuesto con </a:t>
            </a:r>
            <a:r>
              <a:rPr lang="es-MX" sz="2800" dirty="0" err="1">
                <a:solidFill>
                  <a:srgbClr val="FF0000"/>
                </a:solidFill>
              </a:rPr>
              <a:t>elif</a:t>
            </a:r>
            <a:r>
              <a:rPr lang="es-MX" sz="2800" dirty="0">
                <a:solidFill>
                  <a:srgbClr val="FF0000"/>
                </a:solidFill>
              </a:rPr>
              <a:t> y </a:t>
            </a:r>
            <a:r>
              <a:rPr lang="es-MX" sz="2800" dirty="0" err="1">
                <a:solidFill>
                  <a:srgbClr val="FF0000"/>
                </a:solidFill>
              </a:rPr>
              <a:t>else</a:t>
            </a:r>
            <a:r>
              <a:rPr lang="es-MX" sz="2800" dirty="0">
                <a:solidFill>
                  <a:srgbClr val="FF0000"/>
                </a:solidFill>
              </a:rPr>
              <a:t>, donde cada uno de estos funciona como 1 sola condicional y si la respuesta es cierta se muestra un mensaje en </a:t>
            </a:r>
            <a:r>
              <a:rPr lang="es-MX" sz="2800" dirty="0" err="1">
                <a:solidFill>
                  <a:srgbClr val="FF0000"/>
                </a:solidFill>
              </a:rPr>
              <a:t>patalla</a:t>
            </a:r>
            <a:r>
              <a:rPr lang="es-MX" sz="2800" dirty="0">
                <a:solidFill>
                  <a:srgbClr val="FF0000"/>
                </a:solidFill>
              </a:rPr>
              <a:t> y si la respuesta es negativa, se continua al siguiente </a:t>
            </a:r>
            <a:r>
              <a:rPr lang="es-MX" sz="2800" dirty="0" err="1">
                <a:solidFill>
                  <a:srgbClr val="FF0000"/>
                </a:solidFill>
              </a:rPr>
              <a:t>if</a:t>
            </a:r>
            <a:r>
              <a:rPr lang="es-MX" sz="28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C55CE92-03D6-49AE-9F32-679C82796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5" y="3429000"/>
            <a:ext cx="6771220" cy="31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15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1"/>
            <a:ext cx="10353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C: Este tipo de sentencia </a:t>
            </a:r>
            <a:r>
              <a:rPr lang="es-MX" sz="3200" dirty="0" err="1">
                <a:solidFill>
                  <a:srgbClr val="FF0000"/>
                </a:solidFill>
              </a:rPr>
              <a:t>switch</a:t>
            </a:r>
            <a:r>
              <a:rPr lang="es-MX" sz="3200" dirty="0">
                <a:solidFill>
                  <a:srgbClr val="FF0000"/>
                </a:solidFill>
              </a:rPr>
              <a:t> hace lo mismo que el </a:t>
            </a:r>
            <a:r>
              <a:rPr lang="es-MX" sz="3200" dirty="0" err="1">
                <a:solidFill>
                  <a:srgbClr val="FF0000"/>
                </a:solidFill>
              </a:rPr>
              <a:t>if</a:t>
            </a:r>
            <a:r>
              <a:rPr lang="es-MX" sz="3200" dirty="0">
                <a:solidFill>
                  <a:srgbClr val="FF0000"/>
                </a:solidFill>
              </a:rPr>
              <a:t> compuesto, pero este especifica cada </a:t>
            </a:r>
            <a:r>
              <a:rPr lang="es-MX" sz="3200" dirty="0" err="1">
                <a:solidFill>
                  <a:srgbClr val="FF0000"/>
                </a:solidFill>
              </a:rPr>
              <a:t>condicion</a:t>
            </a:r>
            <a:r>
              <a:rPr lang="es-MX" sz="3200" dirty="0">
                <a:solidFill>
                  <a:srgbClr val="FF0000"/>
                </a:solidFill>
              </a:rPr>
              <a:t> como una case o caso.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79B3E7C-BB34-46F0-8144-4F3AD6F74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10" y="3236633"/>
            <a:ext cx="5906209" cy="328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70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1"/>
            <a:ext cx="103537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JAVA: Ejemplo de condicional </a:t>
            </a:r>
            <a:r>
              <a:rPr lang="es-MX" sz="3200" dirty="0" err="1">
                <a:solidFill>
                  <a:srgbClr val="FF0000"/>
                </a:solidFill>
              </a:rPr>
              <a:t>if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  <a:r>
              <a:rPr lang="es-MX" sz="3200" dirty="0" err="1">
                <a:solidFill>
                  <a:srgbClr val="FF0000"/>
                </a:solidFill>
              </a:rPr>
              <a:t>else</a:t>
            </a:r>
            <a:endParaRPr lang="es-MX" sz="32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040686-BDCB-4EBF-B982-0AE3D1E03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643" y="2329781"/>
            <a:ext cx="7146132" cy="436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09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53180" y="366261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0"/>
            <a:ext cx="56817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C, PHP : Ejemplos de </a:t>
            </a:r>
            <a:r>
              <a:rPr lang="es-MX" sz="3200" dirty="0" err="1">
                <a:solidFill>
                  <a:srgbClr val="FF0000"/>
                </a:solidFill>
              </a:rPr>
              <a:t>if</a:t>
            </a:r>
            <a:endParaRPr lang="es-MX" sz="32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F8DA81-241B-43C5-92DD-7D3873A34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5" y="366261"/>
            <a:ext cx="5000625" cy="61579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7007EB5-13F2-48C1-B184-263C3B4BE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74" y="2666220"/>
            <a:ext cx="5811692" cy="31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82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1"/>
            <a:ext cx="1035376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SWITCH CASE : Es una condicional que </a:t>
            </a:r>
            <a:r>
              <a:rPr lang="es-MX" sz="3200" dirty="0" err="1">
                <a:solidFill>
                  <a:srgbClr val="FF0000"/>
                </a:solidFill>
              </a:rPr>
              <a:t>evalua</a:t>
            </a:r>
            <a:r>
              <a:rPr lang="es-MX" sz="3200" dirty="0">
                <a:solidFill>
                  <a:srgbClr val="FF0000"/>
                </a:solidFill>
              </a:rPr>
              <a:t> una variable que le ingresa, al igual que el IF, pero en la </a:t>
            </a:r>
            <a:r>
              <a:rPr lang="es-MX" sz="3200" dirty="0" err="1">
                <a:solidFill>
                  <a:srgbClr val="FF0000"/>
                </a:solidFill>
              </a:rPr>
              <a:t>condiccional</a:t>
            </a:r>
            <a:r>
              <a:rPr lang="es-MX" sz="3200" dirty="0">
                <a:solidFill>
                  <a:srgbClr val="FF0000"/>
                </a:solidFill>
              </a:rPr>
              <a:t> </a:t>
            </a:r>
            <a:r>
              <a:rPr lang="es-MX" sz="3200" dirty="0" err="1">
                <a:solidFill>
                  <a:srgbClr val="FF0000"/>
                </a:solidFill>
              </a:rPr>
              <a:t>switch</a:t>
            </a:r>
            <a:r>
              <a:rPr lang="es-MX" sz="3200" dirty="0">
                <a:solidFill>
                  <a:srgbClr val="FF0000"/>
                </a:solidFill>
              </a:rPr>
              <a:t> cada posibilidad se declara como un "case".</a:t>
            </a:r>
          </a:p>
        </p:txBody>
      </p:sp>
    </p:spTree>
    <p:extLst>
      <p:ext uri="{BB962C8B-B14F-4D97-AF65-F5344CB8AC3E}">
        <p14:creationId xmlns:p14="http://schemas.microsoft.com/office/powerpoint/2010/main" val="4196154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728619" y="1524001"/>
            <a:ext cx="10353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SWITCH CASE : En esta imagen se muestra un </a:t>
            </a:r>
            <a:r>
              <a:rPr lang="es-MX" sz="3200" dirty="0" err="1">
                <a:solidFill>
                  <a:srgbClr val="FF0000"/>
                </a:solidFill>
              </a:rPr>
              <a:t>switch</a:t>
            </a:r>
            <a:r>
              <a:rPr lang="es-MX" sz="3200" dirty="0">
                <a:solidFill>
                  <a:srgbClr val="FF0000"/>
                </a:solidFill>
              </a:rPr>
              <a:t> en </a:t>
            </a:r>
            <a:r>
              <a:rPr lang="es-MX" sz="3200" dirty="0" err="1">
                <a:solidFill>
                  <a:srgbClr val="FF0000"/>
                </a:solidFill>
              </a:rPr>
              <a:t>python</a:t>
            </a:r>
            <a:r>
              <a:rPr lang="es-MX" sz="3200" dirty="0">
                <a:solidFill>
                  <a:srgbClr val="FF0000"/>
                </a:solidFill>
              </a:rPr>
              <a:t> con una declaración de variable, y un console.log por cada case.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A10956-E2D5-4392-BFAF-41EA2303A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68" y="3586104"/>
            <a:ext cx="5533462" cy="30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6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693" y="536990"/>
            <a:ext cx="8248131" cy="102511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166645" y="1562101"/>
            <a:ext cx="74914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solidFill>
                  <a:srgbClr val="FF0000"/>
                </a:solidFill>
              </a:rPr>
              <a:t>JAVA: En la siguiente imagen se puede evaluar una clase publica, con el </a:t>
            </a:r>
            <a:r>
              <a:rPr lang="es-MX" sz="2400" dirty="0" err="1">
                <a:solidFill>
                  <a:srgbClr val="FF0000"/>
                </a:solidFill>
              </a:rPr>
              <a:t>void</a:t>
            </a:r>
            <a:r>
              <a:rPr lang="es-MX" sz="2400" dirty="0">
                <a:solidFill>
                  <a:srgbClr val="FF0000"/>
                </a:solidFill>
              </a:rPr>
              <a:t> dentro, el </a:t>
            </a:r>
            <a:r>
              <a:rPr lang="es-MX" sz="2400" dirty="0" err="1">
                <a:solidFill>
                  <a:srgbClr val="FF0000"/>
                </a:solidFill>
              </a:rPr>
              <a:t>public</a:t>
            </a:r>
            <a:r>
              <a:rPr lang="es-MX" sz="2400" dirty="0">
                <a:solidFill>
                  <a:srgbClr val="FF0000"/>
                </a:solidFill>
              </a:rPr>
              <a:t> </a:t>
            </a:r>
            <a:r>
              <a:rPr lang="es-MX" sz="2400" dirty="0" err="1">
                <a:solidFill>
                  <a:srgbClr val="FF0000"/>
                </a:solidFill>
              </a:rPr>
              <a:t>static</a:t>
            </a:r>
            <a:r>
              <a:rPr lang="es-MX" sz="2400" dirty="0">
                <a:solidFill>
                  <a:srgbClr val="FF0000"/>
                </a:solidFill>
              </a:rPr>
              <a:t> </a:t>
            </a:r>
            <a:r>
              <a:rPr lang="es-MX" sz="2400" dirty="0" err="1">
                <a:solidFill>
                  <a:srgbClr val="FF0000"/>
                </a:solidFill>
              </a:rPr>
              <a:t>void</a:t>
            </a:r>
            <a:r>
              <a:rPr lang="es-MX" sz="2400" dirty="0">
                <a:solidFill>
                  <a:srgbClr val="FF0000"/>
                </a:solidFill>
              </a:rPr>
              <a:t> </a:t>
            </a:r>
            <a:r>
              <a:rPr lang="es-MX" sz="2400" dirty="0" err="1">
                <a:solidFill>
                  <a:srgbClr val="FF0000"/>
                </a:solidFill>
              </a:rPr>
              <a:t>main</a:t>
            </a:r>
            <a:r>
              <a:rPr lang="es-MX" sz="2400" dirty="0">
                <a:solidFill>
                  <a:srgbClr val="FF0000"/>
                </a:solidFill>
              </a:rPr>
              <a:t>, es el que se ejecuta primero, </a:t>
            </a:r>
          </a:p>
          <a:p>
            <a:r>
              <a:rPr lang="es-MX" sz="2400" dirty="0">
                <a:solidFill>
                  <a:srgbClr val="FF0000"/>
                </a:solidFill>
              </a:rPr>
              <a:t>adentro tiene un </a:t>
            </a:r>
            <a:r>
              <a:rPr lang="es-MX" sz="2400" dirty="0" err="1">
                <a:solidFill>
                  <a:srgbClr val="FF0000"/>
                </a:solidFill>
              </a:rPr>
              <a:t>string</a:t>
            </a:r>
            <a:r>
              <a:rPr lang="es-MX" sz="2400" dirty="0">
                <a:solidFill>
                  <a:srgbClr val="FF0000"/>
                </a:solidFill>
              </a:rPr>
              <a:t> luego un </a:t>
            </a:r>
            <a:r>
              <a:rPr lang="es-MX" sz="2400" dirty="0" err="1">
                <a:solidFill>
                  <a:srgbClr val="FF0000"/>
                </a:solidFill>
              </a:rPr>
              <a:t>switch</a:t>
            </a:r>
            <a:r>
              <a:rPr lang="es-MX" sz="2400" dirty="0">
                <a:solidFill>
                  <a:srgbClr val="FF0000"/>
                </a:solidFill>
              </a:rPr>
              <a:t> con la variable que se creo, con el </a:t>
            </a:r>
            <a:r>
              <a:rPr lang="es-MX" sz="2400" dirty="0" err="1">
                <a:solidFill>
                  <a:srgbClr val="FF0000"/>
                </a:solidFill>
              </a:rPr>
              <a:t>length</a:t>
            </a:r>
            <a:r>
              <a:rPr lang="es-MX" sz="2400" dirty="0">
                <a:solidFill>
                  <a:srgbClr val="FF0000"/>
                </a:solidFill>
              </a:rPr>
              <a:t> al lado, </a:t>
            </a:r>
          </a:p>
          <a:p>
            <a:r>
              <a:rPr lang="es-MX" sz="2400" dirty="0">
                <a:solidFill>
                  <a:srgbClr val="FF0000"/>
                </a:solidFill>
              </a:rPr>
              <a:t>esta </a:t>
            </a:r>
            <a:r>
              <a:rPr lang="es-MX" sz="2400" dirty="0" err="1">
                <a:solidFill>
                  <a:srgbClr val="FF0000"/>
                </a:solidFill>
              </a:rPr>
              <a:t>funcion</a:t>
            </a:r>
            <a:r>
              <a:rPr lang="es-MX" sz="2400" dirty="0">
                <a:solidFill>
                  <a:srgbClr val="FF0000"/>
                </a:solidFill>
              </a:rPr>
              <a:t> entrega la cantidad de letras de la variable palabra. los cases y el </a:t>
            </a:r>
            <a:r>
              <a:rPr lang="es-MX" sz="2400" dirty="0" err="1">
                <a:solidFill>
                  <a:srgbClr val="FF0000"/>
                </a:solidFill>
              </a:rPr>
              <a:t>system.out.print</a:t>
            </a:r>
            <a:r>
              <a:rPr lang="es-MX" sz="2400" dirty="0">
                <a:solidFill>
                  <a:srgbClr val="FF0000"/>
                </a:solidFill>
              </a:rPr>
              <a:t> que es una forma de imprimir en pantalla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05485B-25B8-4110-B0DB-7F5D4BE60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5" y="298499"/>
            <a:ext cx="4324350" cy="578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18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85725" y="1524001"/>
            <a:ext cx="60102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PHP: en PHP siempre se inicia con &lt;?</a:t>
            </a:r>
            <a:r>
              <a:rPr lang="es-MX" sz="3200" dirty="0" err="1">
                <a:solidFill>
                  <a:srgbClr val="FF0000"/>
                </a:solidFill>
              </a:rPr>
              <a:t>php</a:t>
            </a:r>
            <a:r>
              <a:rPr lang="es-MX" sz="3200" dirty="0">
                <a:solidFill>
                  <a:srgbClr val="FF0000"/>
                </a:solidFill>
              </a:rPr>
              <a:t> y se cierra el </a:t>
            </a:r>
            <a:r>
              <a:rPr lang="es-MX" sz="3200" dirty="0" err="1">
                <a:solidFill>
                  <a:srgbClr val="FF0000"/>
                </a:solidFill>
              </a:rPr>
              <a:t>codigo</a:t>
            </a:r>
            <a:r>
              <a:rPr lang="es-MX" sz="3200" dirty="0">
                <a:solidFill>
                  <a:srgbClr val="FF0000"/>
                </a:solidFill>
              </a:rPr>
              <a:t> con ?&gt;  , luego se declara una variable con el </a:t>
            </a:r>
            <a:r>
              <a:rPr lang="es-MX" sz="3200" dirty="0" err="1">
                <a:solidFill>
                  <a:srgbClr val="FF0000"/>
                </a:solidFill>
              </a:rPr>
              <a:t>simbolo</a:t>
            </a:r>
            <a:r>
              <a:rPr lang="es-MX" sz="3200" dirty="0">
                <a:solidFill>
                  <a:srgbClr val="FF0000"/>
                </a:solidFill>
              </a:rPr>
              <a:t> $ antes, porque </a:t>
            </a:r>
            <a:r>
              <a:rPr lang="es-MX" sz="3200" dirty="0" err="1">
                <a:solidFill>
                  <a:srgbClr val="FF0000"/>
                </a:solidFill>
              </a:rPr>
              <a:t>asi</a:t>
            </a:r>
            <a:r>
              <a:rPr lang="es-MX" sz="3200" dirty="0">
                <a:solidFill>
                  <a:srgbClr val="FF0000"/>
                </a:solidFill>
              </a:rPr>
              <a:t> es el </a:t>
            </a:r>
            <a:r>
              <a:rPr lang="es-MX" sz="3200" dirty="0" err="1">
                <a:solidFill>
                  <a:srgbClr val="FF0000"/>
                </a:solidFill>
              </a:rPr>
              <a:t>php</a:t>
            </a:r>
            <a:r>
              <a:rPr lang="es-MX" sz="3200" dirty="0">
                <a:solidFill>
                  <a:srgbClr val="FF0000"/>
                </a:solidFill>
              </a:rPr>
              <a:t>, luego el </a:t>
            </a:r>
            <a:r>
              <a:rPr lang="es-MX" sz="3200" dirty="0" err="1">
                <a:solidFill>
                  <a:srgbClr val="FF0000"/>
                </a:solidFill>
              </a:rPr>
              <a:t>switch</a:t>
            </a:r>
            <a:r>
              <a:rPr lang="es-MX" sz="3200" dirty="0">
                <a:solidFill>
                  <a:srgbClr val="FF0000"/>
                </a:solidFill>
              </a:rPr>
              <a:t> recibe la variable y dependiendo el case da un mensaje, con el echo que es una manera de hacerlo en </a:t>
            </a:r>
            <a:r>
              <a:rPr lang="es-MX" sz="3200" dirty="0" err="1">
                <a:solidFill>
                  <a:srgbClr val="FF0000"/>
                </a:solidFill>
              </a:rPr>
              <a:t>php</a:t>
            </a:r>
            <a:r>
              <a:rPr lang="es-MX" sz="32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DBA975-37CD-4203-AD63-37ACD0602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1393743"/>
            <a:ext cx="5641405" cy="486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74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87D942-DF69-4DE2-9F9E-708532F2FFA3}"/>
              </a:ext>
            </a:extLst>
          </p:cNvPr>
          <p:cNvSpPr txBox="1"/>
          <p:nvPr/>
        </p:nvSpPr>
        <p:spPr>
          <a:xfrm>
            <a:off x="256052" y="1272760"/>
            <a:ext cx="57435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C: esta imagen muestra un </a:t>
            </a:r>
            <a:r>
              <a:rPr lang="es-MX" sz="3200" dirty="0" err="1">
                <a:solidFill>
                  <a:srgbClr val="FF0000"/>
                </a:solidFill>
              </a:rPr>
              <a:t>codifo</a:t>
            </a:r>
            <a:r>
              <a:rPr lang="es-MX" sz="3200" dirty="0">
                <a:solidFill>
                  <a:srgbClr val="FF0000"/>
                </a:solidFill>
              </a:rPr>
              <a:t> en lenguaje c, donde se </a:t>
            </a:r>
            <a:r>
              <a:rPr lang="es-MX" sz="3200" dirty="0" err="1">
                <a:solidFill>
                  <a:srgbClr val="FF0000"/>
                </a:solidFill>
              </a:rPr>
              <a:t>decalara</a:t>
            </a:r>
            <a:r>
              <a:rPr lang="es-MX" sz="3200" dirty="0">
                <a:solidFill>
                  <a:srgbClr val="FF0000"/>
                </a:solidFill>
              </a:rPr>
              <a:t> la variable </a:t>
            </a:r>
            <a:r>
              <a:rPr lang="es-MX" sz="3200" dirty="0" err="1">
                <a:solidFill>
                  <a:srgbClr val="FF0000"/>
                </a:solidFill>
              </a:rPr>
              <a:t>num</a:t>
            </a:r>
            <a:r>
              <a:rPr lang="es-MX" sz="3200" dirty="0">
                <a:solidFill>
                  <a:srgbClr val="FF0000"/>
                </a:solidFill>
              </a:rPr>
              <a:t> como un entero y luego se imprime un mensaje en pantalla y se solicita una respuesta del teclado que se guarda en la variable </a:t>
            </a:r>
            <a:r>
              <a:rPr lang="es-MX" sz="3200" dirty="0" err="1">
                <a:solidFill>
                  <a:srgbClr val="FF0000"/>
                </a:solidFill>
              </a:rPr>
              <a:t>num</a:t>
            </a:r>
            <a:r>
              <a:rPr lang="es-MX" sz="3200" dirty="0">
                <a:solidFill>
                  <a:srgbClr val="FF0000"/>
                </a:solidFill>
              </a:rPr>
              <a:t> y luego sigue el </a:t>
            </a:r>
            <a:r>
              <a:rPr lang="es-MX" sz="3200" dirty="0" err="1">
                <a:solidFill>
                  <a:srgbClr val="FF0000"/>
                </a:solidFill>
              </a:rPr>
              <a:t>switch</a:t>
            </a:r>
            <a:r>
              <a:rPr lang="es-MX" sz="3200" dirty="0">
                <a:solidFill>
                  <a:srgbClr val="FF0000"/>
                </a:solidFill>
              </a:rPr>
              <a:t> con un </a:t>
            </a:r>
            <a:r>
              <a:rPr lang="es-MX" sz="3200" dirty="0" err="1">
                <a:solidFill>
                  <a:srgbClr val="FF0000"/>
                </a:solidFill>
              </a:rPr>
              <a:t>comentaro</a:t>
            </a:r>
            <a:r>
              <a:rPr lang="es-MX" sz="3200" dirty="0">
                <a:solidFill>
                  <a:srgbClr val="FF0000"/>
                </a:solidFill>
              </a:rPr>
              <a:t> // y un </a:t>
            </a:r>
            <a:r>
              <a:rPr lang="es-MX" sz="3200" dirty="0" err="1">
                <a:solidFill>
                  <a:srgbClr val="FF0000"/>
                </a:solidFill>
              </a:rPr>
              <a:t>printf</a:t>
            </a:r>
            <a:r>
              <a:rPr lang="es-MX" sz="3200" dirty="0">
                <a:solidFill>
                  <a:srgbClr val="FF0000"/>
                </a:solidFill>
              </a:rPr>
              <a:t> que muestra en pantalla.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F809FF-2233-4328-8D08-D841C05B6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150" y="1384905"/>
            <a:ext cx="6153149" cy="529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81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E8FD4A-5467-4941-AEF0-560720A4A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25" y="2640032"/>
            <a:ext cx="8527901" cy="389411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PYTHON: Se muestran las 2 formas de condicionales en la lógica de la programación a la izquierda un IF y la derecha un SWITCH</a:t>
            </a:r>
          </a:p>
        </p:txBody>
      </p:sp>
    </p:spTree>
    <p:extLst>
      <p:ext uri="{BB962C8B-B14F-4D97-AF65-F5344CB8AC3E}">
        <p14:creationId xmlns:p14="http://schemas.microsoft.com/office/powerpoint/2010/main" val="2894822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condicionales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PREGUNTAS:</a:t>
            </a:r>
          </a:p>
          <a:p>
            <a:pPr marL="514350" indent="-514350"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Declare una variable numérica (edad) en su lenguaje de programación preferida y luego cree una condicional, </a:t>
            </a:r>
            <a:r>
              <a:rPr lang="es-CO" sz="2800" dirty="0" err="1">
                <a:solidFill>
                  <a:srgbClr val="FF0000"/>
                </a:solidFill>
              </a:rPr>
              <a:t>if</a:t>
            </a:r>
            <a:r>
              <a:rPr lang="es-CO" sz="2800" dirty="0">
                <a:solidFill>
                  <a:srgbClr val="FF0000"/>
                </a:solidFill>
              </a:rPr>
              <a:t> o </a:t>
            </a:r>
            <a:r>
              <a:rPr lang="es-CO" sz="2800" dirty="0" err="1">
                <a:solidFill>
                  <a:srgbClr val="FF0000"/>
                </a:solidFill>
              </a:rPr>
              <a:t>switch</a:t>
            </a:r>
            <a:r>
              <a:rPr lang="es-CO" sz="2800" dirty="0">
                <a:solidFill>
                  <a:srgbClr val="FF0000"/>
                </a:solidFill>
              </a:rPr>
              <a:t> para evaluar la variable numérica que creo, si el numero es mayor de 18, menor que 18 o si los tiene exactos. Y que de una respuesta en texto si se cumple esa condicional.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Declare una variable numérica (calor) en su lenguaje de programación preferida y luego cree una condicional, </a:t>
            </a:r>
            <a:r>
              <a:rPr lang="es-CO" sz="2800" dirty="0" err="1">
                <a:solidFill>
                  <a:srgbClr val="FF0000"/>
                </a:solidFill>
              </a:rPr>
              <a:t>if</a:t>
            </a:r>
            <a:r>
              <a:rPr lang="es-CO" sz="2800" dirty="0">
                <a:solidFill>
                  <a:srgbClr val="FF0000"/>
                </a:solidFill>
              </a:rPr>
              <a:t> o </a:t>
            </a:r>
            <a:r>
              <a:rPr lang="es-CO" sz="2800" dirty="0" err="1">
                <a:solidFill>
                  <a:srgbClr val="FF0000"/>
                </a:solidFill>
              </a:rPr>
              <a:t>switch</a:t>
            </a:r>
            <a:r>
              <a:rPr lang="es-CO" sz="2800" dirty="0">
                <a:solidFill>
                  <a:srgbClr val="FF0000"/>
                </a:solidFill>
              </a:rPr>
              <a:t> para evaluar la variable numérica que creo, si es mayor a 36 una respuesta, si es menor a 36 otra respuesta, y si es </a:t>
            </a:r>
            <a:r>
              <a:rPr lang="es-CO" sz="2800" dirty="0" err="1">
                <a:solidFill>
                  <a:srgbClr val="FF0000"/>
                </a:solidFill>
              </a:rPr>
              <a:t>exato</a:t>
            </a:r>
            <a:r>
              <a:rPr lang="es-CO" sz="2800" dirty="0">
                <a:solidFill>
                  <a:srgbClr val="FF0000"/>
                </a:solidFill>
              </a:rPr>
              <a:t> otra. Y que de una respuesta en texto si se cumple esa condicional.</a:t>
            </a:r>
          </a:p>
          <a:p>
            <a:pPr marL="514350" indent="-514350">
              <a:buAutoNum type="arabicParenR"/>
            </a:pP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803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Un ciclo es una condición que se repite por un periodo de tiempo, o siempre que se cumpla la condición</a:t>
            </a:r>
          </a:p>
          <a:p>
            <a:endParaRPr lang="es-CO" sz="2800" dirty="0">
              <a:solidFill>
                <a:srgbClr val="FF0000"/>
              </a:solidFill>
            </a:endParaRPr>
          </a:p>
          <a:p>
            <a:r>
              <a:rPr lang="es-CO" sz="2800" dirty="0">
                <a:solidFill>
                  <a:srgbClr val="FF0000"/>
                </a:solidFill>
              </a:rPr>
              <a:t>WHILE: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El </a:t>
            </a:r>
            <a:r>
              <a:rPr lang="es-MX" sz="2800" dirty="0" err="1">
                <a:solidFill>
                  <a:srgbClr val="FF0000"/>
                </a:solidFill>
              </a:rPr>
              <a:t>while</a:t>
            </a:r>
            <a:r>
              <a:rPr lang="es-MX" sz="2800" dirty="0">
                <a:solidFill>
                  <a:srgbClr val="FF0000"/>
                </a:solidFill>
              </a:rPr>
              <a:t> es una </a:t>
            </a:r>
            <a:r>
              <a:rPr lang="es-MX" sz="2800" dirty="0" err="1">
                <a:solidFill>
                  <a:srgbClr val="FF0000"/>
                </a:solidFill>
              </a:rPr>
              <a:t>condicicional</a:t>
            </a:r>
            <a:r>
              <a:rPr lang="es-MX" sz="2800" dirty="0">
                <a:solidFill>
                  <a:srgbClr val="FF0000"/>
                </a:solidFill>
              </a:rPr>
              <a:t> </a:t>
            </a:r>
            <a:r>
              <a:rPr lang="es-MX" sz="2800" dirty="0" err="1">
                <a:solidFill>
                  <a:srgbClr val="FF0000"/>
                </a:solidFill>
              </a:rPr>
              <a:t>ciclica</a:t>
            </a:r>
            <a:r>
              <a:rPr lang="es-MX" sz="2800" dirty="0">
                <a:solidFill>
                  <a:srgbClr val="FF0000"/>
                </a:solidFill>
              </a:rPr>
              <a:t>, </a:t>
            </a:r>
            <a:r>
              <a:rPr lang="es-MX" sz="2800" dirty="0" err="1">
                <a:solidFill>
                  <a:srgbClr val="FF0000"/>
                </a:solidFill>
              </a:rPr>
              <a:t>while</a:t>
            </a:r>
            <a:r>
              <a:rPr lang="es-MX" sz="2800" dirty="0">
                <a:solidFill>
                  <a:srgbClr val="FF0000"/>
                </a:solidFill>
              </a:rPr>
              <a:t> en español es "mientras", los </a:t>
            </a:r>
            <a:r>
              <a:rPr lang="es-MX" sz="2800" dirty="0" err="1">
                <a:solidFill>
                  <a:srgbClr val="FF0000"/>
                </a:solidFill>
              </a:rPr>
              <a:t>codigos</a:t>
            </a:r>
            <a:r>
              <a:rPr lang="es-MX" sz="2800" dirty="0">
                <a:solidFill>
                  <a:srgbClr val="FF0000"/>
                </a:solidFill>
              </a:rPr>
              <a:t> de esta condicional,</a:t>
            </a:r>
          </a:p>
          <a:p>
            <a:r>
              <a:rPr lang="es-MX" sz="2800" dirty="0">
                <a:solidFill>
                  <a:srgbClr val="FF0000"/>
                </a:solidFill>
              </a:rPr>
              <a:t>se lee como este ejemplo, "cuando el contador sea menor que 10 se cumple el siguiente proceso".</a:t>
            </a:r>
          </a:p>
          <a:p>
            <a:endParaRPr lang="es-MX" sz="2800" dirty="0">
              <a:solidFill>
                <a:srgbClr val="FF0000"/>
              </a:solidFill>
            </a:endParaRPr>
          </a:p>
          <a:p>
            <a:r>
              <a:rPr lang="es-MX" sz="2800" dirty="0">
                <a:solidFill>
                  <a:srgbClr val="FF0000"/>
                </a:solidFill>
              </a:rPr>
              <a:t>En el proceso de cada </a:t>
            </a:r>
            <a:r>
              <a:rPr lang="es-MX" sz="2800" dirty="0" err="1">
                <a:solidFill>
                  <a:srgbClr val="FF0000"/>
                </a:solidFill>
              </a:rPr>
              <a:t>while</a:t>
            </a:r>
            <a:r>
              <a:rPr lang="es-MX" sz="2800" dirty="0">
                <a:solidFill>
                  <a:srgbClr val="FF0000"/>
                </a:solidFill>
              </a:rPr>
              <a:t>, puede haber un </a:t>
            </a:r>
            <a:r>
              <a:rPr lang="es-MX" sz="2800" dirty="0" err="1">
                <a:solidFill>
                  <a:srgbClr val="FF0000"/>
                </a:solidFill>
              </a:rPr>
              <a:t>ritmo_iteracion</a:t>
            </a:r>
            <a:r>
              <a:rPr lang="es-MX" sz="2800" dirty="0">
                <a:solidFill>
                  <a:srgbClr val="FF0000"/>
                </a:solidFill>
              </a:rPr>
              <a:t> que siempre esta compuerta por el contados, junto a otras variables.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101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PYTHON: </a:t>
            </a:r>
            <a:r>
              <a:rPr lang="es-CO" sz="2800" dirty="0" err="1">
                <a:solidFill>
                  <a:srgbClr val="FF0000"/>
                </a:solidFill>
              </a:rPr>
              <a:t>While</a:t>
            </a:r>
            <a:r>
              <a:rPr lang="es-CO" sz="2800" dirty="0">
                <a:solidFill>
                  <a:srgbClr val="FF0000"/>
                </a:solidFill>
              </a:rPr>
              <a:t> que repite una función hasta que una variable llegue a 50 , sumándole 1 cada que pasa por el contador, y el console.log imprime en pantalla por donde va el contador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258DB3-12BA-4820-B402-E49606580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72" y="2843862"/>
            <a:ext cx="8641605" cy="361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0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66700" y="1272760"/>
            <a:ext cx="114680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C: que </a:t>
            </a:r>
            <a:r>
              <a:rPr lang="es-CO" sz="2800" dirty="0" err="1">
                <a:solidFill>
                  <a:srgbClr val="FF0000"/>
                </a:solidFill>
              </a:rPr>
              <a:t>While</a:t>
            </a:r>
            <a:r>
              <a:rPr lang="es-CO" sz="2800" dirty="0">
                <a:solidFill>
                  <a:srgbClr val="FF0000"/>
                </a:solidFill>
              </a:rPr>
              <a:t> que repite una función hasta que una variable llegue a 25 , sumándole 1 cada que pasa por el contador, y el </a:t>
            </a:r>
            <a:r>
              <a:rPr lang="es-CO" sz="2800" dirty="0" err="1">
                <a:solidFill>
                  <a:srgbClr val="FF0000"/>
                </a:solidFill>
              </a:rPr>
              <a:t>printf</a:t>
            </a:r>
            <a:r>
              <a:rPr lang="es-CO" sz="2800" dirty="0">
                <a:solidFill>
                  <a:srgbClr val="FF0000"/>
                </a:solidFill>
              </a:rPr>
              <a:t> imprime en pantalla por donde va el contador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EF811A-0F72-4E67-A39A-0406B85A6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086" y="2832920"/>
            <a:ext cx="7262813" cy="39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30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452" y="142875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33362" y="1107407"/>
            <a:ext cx="117252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JAVA : </a:t>
            </a:r>
            <a:r>
              <a:rPr lang="es-CO" sz="2800" dirty="0" err="1">
                <a:solidFill>
                  <a:srgbClr val="FF0000"/>
                </a:solidFill>
              </a:rPr>
              <a:t>While</a:t>
            </a:r>
            <a:r>
              <a:rPr lang="es-CO" sz="2800" dirty="0">
                <a:solidFill>
                  <a:srgbClr val="FF0000"/>
                </a:solidFill>
              </a:rPr>
              <a:t> que repite una función hasta que una variable llegue a 10 , sumándole 1 cada que pasa por el contador, y el </a:t>
            </a:r>
            <a:r>
              <a:rPr lang="es-CO" sz="2800" dirty="0" err="1">
                <a:solidFill>
                  <a:srgbClr val="FF0000"/>
                </a:solidFill>
              </a:rPr>
              <a:t>System.out.printf</a:t>
            </a:r>
            <a:r>
              <a:rPr lang="es-CO" sz="2800" dirty="0">
                <a:solidFill>
                  <a:srgbClr val="FF0000"/>
                </a:solidFill>
              </a:rPr>
              <a:t> imprime en pantalla por donde va el contador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D5CE94-6602-4B45-9963-03BD0381B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74" y="2616227"/>
            <a:ext cx="8631718" cy="400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85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PHP: </a:t>
            </a:r>
            <a:r>
              <a:rPr lang="es-CO" sz="2800" dirty="0" err="1">
                <a:solidFill>
                  <a:srgbClr val="FF0000"/>
                </a:solidFill>
              </a:rPr>
              <a:t>While</a:t>
            </a:r>
            <a:r>
              <a:rPr lang="es-CO" sz="2800" dirty="0">
                <a:solidFill>
                  <a:srgbClr val="FF0000"/>
                </a:solidFill>
              </a:rPr>
              <a:t> que repite una función hasta que una variable llegue a 12 , sumándole 1 cada que pasa por el contador, y el echo imprime en pantalla por donde va el contador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0F1E2E-9DD6-48B4-A5F1-D3802FA4F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2918538"/>
            <a:ext cx="6572250" cy="36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36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6" y="1458867"/>
            <a:ext cx="61150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PYTHON: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sencillo donde una variable i va a ser impresa en pantalla por el </a:t>
            </a:r>
            <a:r>
              <a:rPr lang="es-CO" sz="2800" dirty="0" err="1">
                <a:solidFill>
                  <a:srgbClr val="FF0000"/>
                </a:solidFill>
              </a:rPr>
              <a:t>print</a:t>
            </a:r>
            <a:r>
              <a:rPr lang="es-CO" sz="2800" dirty="0">
                <a:solidFill>
                  <a:srgbClr val="FF0000"/>
                </a:solidFill>
              </a:rPr>
              <a:t>() hasta que llegue a 10.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0E2B2F-9AE9-4900-B7AB-F14C4259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525" y="1182230"/>
            <a:ext cx="38671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22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6" y="1458867"/>
            <a:ext cx="6115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FOR: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2EB353-8256-4478-B8A6-2AED6C54577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88319"/>
            <a:ext cx="8058149" cy="3429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9296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77327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57176" y="1192167"/>
            <a:ext cx="108108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JAVA: Se declara una variable i con 0, y se recorre un ciclo mientras sea menor que 10 y al final del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 le suma el numero 1 para ir incrementado la variable, y el </a:t>
            </a:r>
            <a:r>
              <a:rPr lang="es-CO" sz="2800" dirty="0" err="1">
                <a:solidFill>
                  <a:srgbClr val="FF0000"/>
                </a:solidFill>
              </a:rPr>
              <a:t>system.out.print</a:t>
            </a:r>
            <a:r>
              <a:rPr lang="es-CO" sz="2800" dirty="0">
                <a:solidFill>
                  <a:srgbClr val="FF0000"/>
                </a:solidFill>
              </a:rPr>
              <a:t> </a:t>
            </a:r>
            <a:r>
              <a:rPr lang="es-CO" sz="2800" dirty="0" err="1">
                <a:solidFill>
                  <a:srgbClr val="FF0000"/>
                </a:solidFill>
              </a:rPr>
              <a:t>imprim</a:t>
            </a:r>
            <a:r>
              <a:rPr lang="es-CO" sz="2800" dirty="0">
                <a:solidFill>
                  <a:srgbClr val="FF0000"/>
                </a:solidFill>
              </a:rPr>
              <a:t> en pantalla cada ves que se repita el ciclo.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747BDF-E9FF-426A-B8CE-C8F1C6B2E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20" y="3274749"/>
            <a:ext cx="10182829" cy="348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99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2546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76225" y="1068342"/>
            <a:ext cx="113537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C: Se inicializa una variable en numero 1 y se cumple la condición de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hasta que sea menos que 10 y al final del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 le suma 1 para ir incrementando la variable en 1, y el </a:t>
            </a:r>
            <a:r>
              <a:rPr lang="es-CO" sz="2800" dirty="0" err="1">
                <a:solidFill>
                  <a:srgbClr val="FF0000"/>
                </a:solidFill>
              </a:rPr>
              <a:t>printf</a:t>
            </a:r>
            <a:r>
              <a:rPr lang="es-CO" sz="2800" dirty="0">
                <a:solidFill>
                  <a:srgbClr val="FF0000"/>
                </a:solidFill>
              </a:rPr>
              <a:t> imprime la variable cada que se repita el ciclo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10358C-B2E0-4FC7-919A-A08C6C935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325" y="3057397"/>
            <a:ext cx="7412061" cy="358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945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6" y="1458867"/>
            <a:ext cx="52639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PHP : Se inicializa una variable en numero 1 y se cumple la condición de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hasta que sea menos que 10 y al final del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 le suma 1 para ir incrementando la variable en 1, y el echo imprime la variable cada que se repita el ciclo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13FEA8-3953-4F63-899A-0842FC544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938" y="1458867"/>
            <a:ext cx="5784544" cy="459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52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1" y="1412701"/>
            <a:ext cx="61150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JAVA: Se inicializa una variable en numero 1 y se cumple la condición de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hasta que sea menos que 10 y al final del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 le suma 1 para ir incrementando la variable en 1, y el </a:t>
            </a:r>
            <a:r>
              <a:rPr lang="es-CO" sz="2800" dirty="0" err="1">
                <a:solidFill>
                  <a:srgbClr val="FF0000"/>
                </a:solidFill>
              </a:rPr>
              <a:t>System.out.print</a:t>
            </a:r>
            <a:r>
              <a:rPr lang="es-CO" sz="2800" dirty="0">
                <a:solidFill>
                  <a:srgbClr val="FF0000"/>
                </a:solidFill>
              </a:rPr>
              <a:t> imprime la variable cada que se repita el ciclo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. Y un </a:t>
            </a:r>
            <a:r>
              <a:rPr lang="es-CO" sz="2800" dirty="0" err="1">
                <a:solidFill>
                  <a:srgbClr val="FF0000"/>
                </a:solidFill>
              </a:rPr>
              <a:t>if</a:t>
            </a:r>
            <a:r>
              <a:rPr lang="es-CO" sz="2800" dirty="0">
                <a:solidFill>
                  <a:srgbClr val="FF0000"/>
                </a:solidFill>
              </a:rPr>
              <a:t> interno que para cuando la variable </a:t>
            </a:r>
            <a:r>
              <a:rPr lang="es-CO" sz="2800" dirty="0" err="1">
                <a:solidFill>
                  <a:srgbClr val="FF0000"/>
                </a:solidFill>
              </a:rPr>
              <a:t>llege</a:t>
            </a:r>
            <a:r>
              <a:rPr lang="es-CO" sz="2800" dirty="0">
                <a:solidFill>
                  <a:srgbClr val="FF0000"/>
                </a:solidFill>
              </a:rPr>
              <a:t> a 6 y ahí empieza a imprimir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D169AD-A881-4A34-B9D4-657A507DF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912" y="1147762"/>
            <a:ext cx="48482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33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55530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C: Se inicializa una variable en numero 0 y se cumple la condición de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hasta que sea menos que 100 y al final del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se le suma 2 para ir incrementando la variable en 2, y el </a:t>
            </a:r>
            <a:r>
              <a:rPr lang="es-CO" sz="2800" dirty="0" err="1">
                <a:solidFill>
                  <a:srgbClr val="FF0000"/>
                </a:solidFill>
              </a:rPr>
              <a:t>cout</a:t>
            </a:r>
            <a:r>
              <a:rPr lang="es-CO" sz="2800" dirty="0">
                <a:solidFill>
                  <a:srgbClr val="FF0000"/>
                </a:solidFill>
              </a:rPr>
              <a:t> imprime la variable cada que se repita el ciclo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. Y un </a:t>
            </a:r>
            <a:r>
              <a:rPr lang="es-CO" sz="2800" dirty="0" err="1">
                <a:solidFill>
                  <a:srgbClr val="FF0000"/>
                </a:solidFill>
              </a:rPr>
              <a:t>if</a:t>
            </a:r>
            <a:r>
              <a:rPr lang="es-CO" sz="2800" dirty="0">
                <a:solidFill>
                  <a:srgbClr val="FF0000"/>
                </a:solidFill>
              </a:rPr>
              <a:t> interno que para cuando la variable </a:t>
            </a:r>
            <a:r>
              <a:rPr lang="es-CO" sz="2800" dirty="0" err="1">
                <a:solidFill>
                  <a:srgbClr val="FF0000"/>
                </a:solidFill>
              </a:rPr>
              <a:t>llege</a:t>
            </a:r>
            <a:r>
              <a:rPr lang="es-CO" sz="2800" dirty="0">
                <a:solidFill>
                  <a:srgbClr val="FF0000"/>
                </a:solidFill>
              </a:rPr>
              <a:t> a 100 y ahí empieza a imprimir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74F466D-D3DD-491B-B545-2E0AC58A2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5" y="1591712"/>
            <a:ext cx="5781675" cy="367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01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CICLOS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PREGUNTAS: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Crear un ciclo que vaya de 1 – 50 y en cada paso por el ciclo se muestre en pantalla cada numero de ciclos que se han realizado</a:t>
            </a:r>
          </a:p>
          <a:p>
            <a:pPr marL="514350" indent="-514350"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Cree un software donde se le ingrese una variable numérica, y esta entre a un ciclo que recorra de 1 hasta la variable numérica que se ingreso anteriormente, puede usar </a:t>
            </a:r>
            <a:r>
              <a:rPr lang="es-CO" sz="2800" dirty="0" err="1">
                <a:solidFill>
                  <a:srgbClr val="FF0000"/>
                </a:solidFill>
              </a:rPr>
              <a:t>while</a:t>
            </a:r>
            <a:r>
              <a:rPr lang="es-CO" sz="2800" dirty="0">
                <a:solidFill>
                  <a:srgbClr val="FF0000"/>
                </a:solidFill>
              </a:rPr>
              <a:t> o </a:t>
            </a:r>
            <a:r>
              <a:rPr lang="es-CO" sz="2800" dirty="0" err="1">
                <a:solidFill>
                  <a:srgbClr val="FF0000"/>
                </a:solidFill>
              </a:rPr>
              <a:t>for</a:t>
            </a:r>
            <a:r>
              <a:rPr lang="es-CO" sz="2800" dirty="0">
                <a:solidFill>
                  <a:srgbClr val="FF0000"/>
                </a:solidFill>
              </a:rPr>
              <a:t> y que se muestre en pantalla cada numero del ciclo y al final se sume 1+</a:t>
            </a:r>
          </a:p>
          <a:p>
            <a:pPr marL="514350" indent="-514350">
              <a:buAutoNum type="arabicParenR"/>
            </a:pP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233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F3551B-87FF-4C1B-9795-9FDCC25AB5B3}"/>
              </a:ext>
            </a:extLst>
          </p:cNvPr>
          <p:cNvSpPr txBox="1"/>
          <p:nvPr/>
        </p:nvSpPr>
        <p:spPr>
          <a:xfrm>
            <a:off x="238125" y="1314451"/>
            <a:ext cx="11191875" cy="5392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OBJETO</a:t>
            </a:r>
          </a:p>
          <a:p>
            <a:r>
              <a:rPr lang="es-MX" sz="2800" dirty="0">
                <a:solidFill>
                  <a:srgbClr val="FF0000"/>
                </a:solidFill>
              </a:rPr>
              <a:t>Un objeto en programación es la información que se le ingresa a una función o clase, normalmente con características en común.​ Una clase es un grupo de funcionalidades de un </a:t>
            </a:r>
            <a:r>
              <a:rPr lang="es-MX" sz="2800" dirty="0" err="1">
                <a:solidFill>
                  <a:srgbClr val="FF0000"/>
                </a:solidFill>
              </a:rPr>
              <a:t>codigo</a:t>
            </a:r>
            <a:r>
              <a:rPr lang="es-MX" sz="2800" dirty="0">
                <a:solidFill>
                  <a:srgbClr val="FF0000"/>
                </a:solidFill>
              </a:rPr>
              <a:t>, los objetos permiten separar los diferentes componentes de un programa, haciendo mas </a:t>
            </a:r>
            <a:r>
              <a:rPr lang="es-MX" sz="2800" dirty="0" err="1">
                <a:solidFill>
                  <a:srgbClr val="FF0000"/>
                </a:solidFill>
              </a:rPr>
              <a:t>facil</a:t>
            </a:r>
            <a:r>
              <a:rPr lang="es-MX" sz="2800" dirty="0">
                <a:solidFill>
                  <a:srgbClr val="FF0000"/>
                </a:solidFill>
              </a:rPr>
              <a:t> su creación, eliminación y posterior ediciones.</a:t>
            </a:r>
          </a:p>
          <a:p>
            <a:endParaRPr lang="es-MX" sz="2800" dirty="0">
              <a:solidFill>
                <a:srgbClr val="FF0000"/>
              </a:solidFill>
            </a:endParaRPr>
          </a:p>
          <a:p>
            <a:r>
              <a:rPr lang="es-MX" sz="2800" dirty="0">
                <a:solidFill>
                  <a:srgbClr val="FF0000"/>
                </a:solidFill>
              </a:rPr>
              <a:t>Los objetos que nos rodean tienen distintas características como: tamaño, forma, textura, dureza, color, olor y sabor. Estas características nos permiten reconocerlos y diferenciarlos.</a:t>
            </a:r>
          </a:p>
          <a:p>
            <a:r>
              <a:rPr lang="es-MX" sz="2800" dirty="0">
                <a:solidFill>
                  <a:srgbClr val="FF0000"/>
                </a:solidFill>
              </a:rPr>
              <a:t>Los conceptos de clase se puede comparar con variable y el concepto de objetos se puede comparar con datos.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977385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C6BA1A-6682-409A-AA56-94338EE66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472" y="1695450"/>
            <a:ext cx="8199056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985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55530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PYTHON: un objeto se declara en una clase o función que en Python se llama </a:t>
            </a:r>
            <a:r>
              <a:rPr lang="es-CO" sz="2800" dirty="0" err="1">
                <a:solidFill>
                  <a:srgbClr val="FF0000"/>
                </a:solidFill>
              </a:rPr>
              <a:t>def</a:t>
            </a:r>
            <a:r>
              <a:rPr lang="es-CO" sz="2800" dirty="0">
                <a:solidFill>
                  <a:srgbClr val="FF0000"/>
                </a:solidFill>
              </a:rPr>
              <a:t>, como en la mayoría de lenguajes de programación, el </a:t>
            </a:r>
            <a:r>
              <a:rPr lang="es-CO" sz="2800" dirty="0" err="1">
                <a:solidFill>
                  <a:srgbClr val="FF0000"/>
                </a:solidFill>
              </a:rPr>
              <a:t>return</a:t>
            </a:r>
            <a:r>
              <a:rPr lang="es-CO" sz="2800" dirty="0">
                <a:solidFill>
                  <a:srgbClr val="FF0000"/>
                </a:solidFill>
              </a:rPr>
              <a:t> es la respuesta de el objeto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B2C96C-F0B0-49ED-904C-D347A4BAB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495" y="1424643"/>
            <a:ext cx="5844049" cy="483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850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55530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C: En este lenguaje de programación los objetos están dentro de una </a:t>
            </a:r>
            <a:r>
              <a:rPr lang="es-CO" sz="2800" dirty="0" err="1">
                <a:solidFill>
                  <a:srgbClr val="FF0000"/>
                </a:solidFill>
              </a:rPr>
              <a:t>class</a:t>
            </a:r>
            <a:r>
              <a:rPr lang="es-CO" sz="2800" dirty="0">
                <a:solidFill>
                  <a:srgbClr val="FF0000"/>
                </a:solidFill>
              </a:rPr>
              <a:t> y sus características también dan respuesta en un “</a:t>
            </a:r>
            <a:r>
              <a:rPr lang="es-CO" sz="2800" dirty="0" err="1">
                <a:solidFill>
                  <a:srgbClr val="FF0000"/>
                </a:solidFill>
              </a:rPr>
              <a:t>return</a:t>
            </a:r>
            <a:r>
              <a:rPr lang="es-CO" sz="2800" dirty="0">
                <a:solidFill>
                  <a:srgbClr val="FF0000"/>
                </a:solidFill>
              </a:rPr>
              <a:t>” que tiene cada clase o función.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E724AD-5918-4DF8-A41F-C05A1D3BB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150" y="1412702"/>
            <a:ext cx="5105400" cy="504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97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55530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J</a:t>
            </a:r>
            <a:r>
              <a:rPr lang="es-CO" sz="2800" dirty="0">
                <a:solidFill>
                  <a:srgbClr val="FF0000"/>
                </a:solidFill>
              </a:rPr>
              <a:t>AVA: En este lenguaje de programación se crea un </a:t>
            </a:r>
            <a:r>
              <a:rPr lang="es-CO" sz="2800" dirty="0" err="1">
                <a:solidFill>
                  <a:srgbClr val="FF0000"/>
                </a:solidFill>
              </a:rPr>
              <a:t>class</a:t>
            </a:r>
            <a:r>
              <a:rPr lang="es-CO" sz="2800" dirty="0">
                <a:solidFill>
                  <a:srgbClr val="FF0000"/>
                </a:solidFill>
              </a:rPr>
              <a:t> con el nombre del objeto, y con </a:t>
            </a:r>
            <a:r>
              <a:rPr lang="es-CO" sz="2800" dirty="0" err="1">
                <a:solidFill>
                  <a:srgbClr val="FF0000"/>
                </a:solidFill>
              </a:rPr>
              <a:t>this</a:t>
            </a:r>
            <a:r>
              <a:rPr lang="es-CO" sz="2800" dirty="0">
                <a:solidFill>
                  <a:srgbClr val="FF0000"/>
                </a:solidFill>
              </a:rPr>
              <a:t> se le pueden dar las variables a el objeto.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FE50F9B-D67C-4FE2-8789-F1814DDBE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987" y="1412702"/>
            <a:ext cx="6294998" cy="395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876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48672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PHP: Con un función </a:t>
            </a:r>
            <a:r>
              <a:rPr lang="es-CO" sz="2800" dirty="0" err="1">
                <a:solidFill>
                  <a:srgbClr val="FF0000"/>
                </a:solidFill>
              </a:rPr>
              <a:t>class</a:t>
            </a:r>
            <a:r>
              <a:rPr lang="es-CO" sz="2800" dirty="0">
                <a:solidFill>
                  <a:srgbClr val="FF0000"/>
                </a:solidFill>
              </a:rPr>
              <a:t>, y una variables que pueden ser privadas o publicas, con un new se le puede añadir variables a la función como se muestra en la imagen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35E390-45D9-4C70-9F2F-14A621088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0" y="1412702"/>
            <a:ext cx="64579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80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PREGUNTAS: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Crear una función llamada carro, y que tenga las características de un carro, luego otra función que haga el llamado de este objeto y lo clasifique en que tipo de carro es.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Cree una función llamada persona, y otra función que llame estas características y clasifique según la edad de la persona</a:t>
            </a:r>
          </a:p>
          <a:p>
            <a:pPr marL="514350" indent="-514350">
              <a:buAutoNum type="arabicParenR"/>
            </a:pP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06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46" y="0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OBJETOS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49555" y="424799"/>
            <a:ext cx="46386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IMPORTAR LIBRERIAS</a:t>
            </a:r>
          </a:p>
          <a:p>
            <a:r>
              <a:rPr lang="es-CO" sz="2800" dirty="0">
                <a:solidFill>
                  <a:srgbClr val="FF0000"/>
                </a:solidFill>
              </a:rPr>
              <a:t>C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98B66A-5192-4632-B00B-7D986D67A8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81001" y="1455013"/>
            <a:ext cx="4810123" cy="204709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56C2615-7166-46BB-88CD-DDD670EBAE77}"/>
              </a:ext>
            </a:extLst>
          </p:cNvPr>
          <p:cNvSpPr txBox="1"/>
          <p:nvPr/>
        </p:nvSpPr>
        <p:spPr>
          <a:xfrm>
            <a:off x="5681100" y="855686"/>
            <a:ext cx="5635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PHP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5C046F-572E-4D45-864D-D78868C2EDB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76350" y="1392635"/>
            <a:ext cx="5319757" cy="210946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69B5AAC-D094-489E-8E51-35053EF34266}"/>
              </a:ext>
            </a:extLst>
          </p:cNvPr>
          <p:cNvSpPr txBox="1"/>
          <p:nvPr/>
        </p:nvSpPr>
        <p:spPr>
          <a:xfrm>
            <a:off x="5953124" y="3554690"/>
            <a:ext cx="5635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PYTHON</a:t>
            </a:r>
            <a:endParaRPr lang="es-CO" sz="2800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5B568E-CBEE-44CF-8D1C-FA0A9F86B9D5}"/>
              </a:ext>
            </a:extLst>
          </p:cNvPr>
          <p:cNvSpPr txBox="1"/>
          <p:nvPr/>
        </p:nvSpPr>
        <p:spPr>
          <a:xfrm>
            <a:off x="460226" y="3644478"/>
            <a:ext cx="5635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J</a:t>
            </a:r>
            <a:r>
              <a:rPr lang="es-CO" sz="2800" dirty="0">
                <a:solidFill>
                  <a:srgbClr val="FF0000"/>
                </a:solidFill>
              </a:rPr>
              <a:t>AVASCRIPT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5CFCDEF-A5B1-41A5-B5AD-9814A3ACA1E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42346" y="4634943"/>
            <a:ext cx="3924904" cy="118531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A73D803-9105-4773-B6D6-7A97F0CDAF5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776350" y="4077910"/>
            <a:ext cx="5812548" cy="247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540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262606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C9EC55-9E3A-4422-998B-83AEFED4E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665" y="123824"/>
            <a:ext cx="7342739" cy="65246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7371DD6-DC4C-4CBA-9208-78D1177D3B64}"/>
              </a:ext>
            </a:extLst>
          </p:cNvPr>
          <p:cNvSpPr txBox="1"/>
          <p:nvPr/>
        </p:nvSpPr>
        <p:spPr>
          <a:xfrm>
            <a:off x="171450" y="916746"/>
            <a:ext cx="421005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Una base de datos es un grupo de datos almacenados con un orden, puede ser SQL o NOSQL con la diferencia de que SQL son listas en tablas con columnas semejantes entre ellas y filas de datos, y en </a:t>
            </a:r>
            <a:r>
              <a:rPr lang="es-MX" sz="2800" dirty="0" err="1">
                <a:solidFill>
                  <a:srgbClr val="FF0000"/>
                </a:solidFill>
              </a:rPr>
              <a:t>NoSql</a:t>
            </a:r>
            <a:r>
              <a:rPr lang="es-MX" sz="2800" dirty="0">
                <a:solidFill>
                  <a:srgbClr val="FF0000"/>
                </a:solidFill>
              </a:rPr>
              <a:t> son listas colección JSON empaquetados en unos corchetes.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2012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68" y="171450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2FDF394-B646-4B1E-9380-06259EACA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76" y="2543174"/>
            <a:ext cx="7344693" cy="391477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5311DEE-070A-4B49-8097-961CE96C8E47}"/>
              </a:ext>
            </a:extLst>
          </p:cNvPr>
          <p:cNvSpPr txBox="1"/>
          <p:nvPr/>
        </p:nvSpPr>
        <p:spPr>
          <a:xfrm>
            <a:off x="1962150" y="1145346"/>
            <a:ext cx="8705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SELECT : busca </a:t>
            </a:r>
            <a:r>
              <a:rPr lang="es-MX" sz="2800" dirty="0" err="1">
                <a:solidFill>
                  <a:srgbClr val="FF0000"/>
                </a:solidFill>
              </a:rPr>
              <a:t>informacion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9317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6581" y="104775"/>
            <a:ext cx="4001832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951AA4-5AA5-49EE-854F-4DCBF94F9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49" y="242887"/>
            <a:ext cx="5114925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239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0500"/>
            <a:ext cx="10353761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64748C-F4FA-431A-B51D-A24B569E8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1" y="2242936"/>
            <a:ext cx="5962650" cy="42052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3FDC3F5-B3A7-4F60-B524-927C7881B663}"/>
              </a:ext>
            </a:extLst>
          </p:cNvPr>
          <p:cNvSpPr txBox="1"/>
          <p:nvPr/>
        </p:nvSpPr>
        <p:spPr>
          <a:xfrm>
            <a:off x="1295399" y="1039767"/>
            <a:ext cx="8334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CREATE :  </a:t>
            </a:r>
            <a:r>
              <a:rPr lang="es-MX" sz="2800" dirty="0" err="1">
                <a:solidFill>
                  <a:srgbClr val="FF0000"/>
                </a:solidFill>
              </a:rPr>
              <a:t>Creacion</a:t>
            </a:r>
            <a:r>
              <a:rPr lang="es-MX" sz="2800" dirty="0">
                <a:solidFill>
                  <a:srgbClr val="FF0000"/>
                </a:solidFill>
              </a:rPr>
              <a:t> de una tabla o </a:t>
            </a:r>
            <a:r>
              <a:rPr lang="es-MX" sz="2800" dirty="0" err="1">
                <a:solidFill>
                  <a:srgbClr val="FF0000"/>
                </a:solidFill>
              </a:rPr>
              <a:t>coleccion</a:t>
            </a: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219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878007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371475" y="1326321"/>
            <a:ext cx="39719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DELETE : Eliminar una </a:t>
            </a:r>
            <a:r>
              <a:rPr lang="es-MX" sz="2800" dirty="0" err="1">
                <a:solidFill>
                  <a:srgbClr val="FF0000"/>
                </a:solidFill>
              </a:rPr>
              <a:t>informacion</a:t>
            </a:r>
            <a:endParaRPr lang="es-CO" sz="28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A4D16A-B529-49BC-947B-B6E2F4D29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77" y="116260"/>
            <a:ext cx="6162673" cy="662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58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075" y="0"/>
            <a:ext cx="3878007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0" y="1412702"/>
            <a:ext cx="7915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UPDATE : Editar, modificar, una información</a:t>
            </a:r>
            <a:endParaRPr lang="es-CO" sz="2800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058FDB-5956-4898-AFC1-A1CC8F8C6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" y="2227340"/>
            <a:ext cx="9396413" cy="435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6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BASE DE DATOS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219075" y="1458867"/>
            <a:ext cx="114680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>
                <a:solidFill>
                  <a:srgbClr val="FF0000"/>
                </a:solidFill>
              </a:rPr>
              <a:t>PREGUNTAS: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Crear una sentencia SELECT donde se busque en la base de datos persona, la característica “edad” “genero” “orientación sexual”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Crea una sentencia CREATE que cree una base de datos con la información de un carro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Crear la sentencia DELETE que borre la información anteriormente creada</a:t>
            </a:r>
          </a:p>
          <a:p>
            <a:pPr marL="514350" indent="-514350">
              <a:buFontTx/>
              <a:buAutoNum type="arabicParenR"/>
            </a:pPr>
            <a:r>
              <a:rPr lang="es-CO" sz="2800" dirty="0">
                <a:solidFill>
                  <a:srgbClr val="FF0000"/>
                </a:solidFill>
              </a:rPr>
              <a:t>Realice un UPDATE que edite la base de datos de carro y modifique un dato</a:t>
            </a:r>
          </a:p>
          <a:p>
            <a:pPr marL="514350" indent="-514350">
              <a:buAutoNum type="arabicParenR"/>
            </a:pPr>
            <a:endParaRPr lang="es-CO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2227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762FD-01FC-4C7A-98AE-CF81043C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075" y="0"/>
            <a:ext cx="3878007" cy="1326321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0000"/>
                </a:solidFill>
              </a:rPr>
              <a:t>HTML</a:t>
            </a:r>
            <a:br>
              <a:rPr lang="es-MX" sz="3200" dirty="0"/>
            </a:b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E51B3FC-7E43-47E5-983B-698047E29DA8}"/>
              </a:ext>
            </a:extLst>
          </p:cNvPr>
          <p:cNvSpPr txBox="1"/>
          <p:nvPr/>
        </p:nvSpPr>
        <p:spPr>
          <a:xfrm>
            <a:off x="190501" y="781050"/>
            <a:ext cx="578167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dirty="0">
                <a:solidFill>
                  <a:srgbClr val="FF0000"/>
                </a:solidFill>
              </a:rPr>
              <a:t>Etiquetas HTML : La mayoría de etiquetas empiezan con &lt; y cierran en &gt; , otra característica es que la mayoría de habilitan espacio y las que tiene un </a:t>
            </a:r>
            <a:r>
              <a:rPr lang="es-MX" sz="2000" dirty="0" err="1">
                <a:solidFill>
                  <a:srgbClr val="FF0000"/>
                </a:solidFill>
              </a:rPr>
              <a:t>slash</a:t>
            </a:r>
            <a:r>
              <a:rPr lang="es-MX" sz="2000" dirty="0">
                <a:solidFill>
                  <a:srgbClr val="FF0000"/>
                </a:solidFill>
              </a:rPr>
              <a:t> en la mitad &lt;/&gt;  cierran el espacio</a:t>
            </a:r>
          </a:p>
          <a:p>
            <a:endParaRPr lang="es-MX" sz="2000" dirty="0">
              <a:solidFill>
                <a:srgbClr val="FF0000"/>
              </a:solidFill>
            </a:endParaRPr>
          </a:p>
          <a:p>
            <a:r>
              <a:rPr lang="es-MX" sz="2000" dirty="0">
                <a:solidFill>
                  <a:srgbClr val="FF0000"/>
                </a:solidFill>
              </a:rPr>
              <a:t>-&lt;Head&gt; : Encabezado de la pagina</a:t>
            </a:r>
          </a:p>
          <a:p>
            <a:endParaRPr lang="es-MX" sz="2000" dirty="0">
              <a:solidFill>
                <a:srgbClr val="FF0000"/>
              </a:solidFill>
            </a:endParaRPr>
          </a:p>
          <a:p>
            <a:r>
              <a:rPr lang="es-MX" sz="2000" dirty="0">
                <a:solidFill>
                  <a:srgbClr val="FF0000"/>
                </a:solidFill>
              </a:rPr>
              <a:t>-&lt;</a:t>
            </a:r>
            <a:r>
              <a:rPr lang="es-MX" sz="2000" dirty="0" err="1">
                <a:solidFill>
                  <a:srgbClr val="FF0000"/>
                </a:solidFill>
              </a:rPr>
              <a:t>Body</a:t>
            </a:r>
            <a:r>
              <a:rPr lang="es-MX" sz="2000" dirty="0">
                <a:solidFill>
                  <a:srgbClr val="FF0000"/>
                </a:solidFill>
              </a:rPr>
              <a:t>&gt; : Donde va la lógica</a:t>
            </a:r>
          </a:p>
          <a:p>
            <a:endParaRPr lang="es-MX" sz="2000" dirty="0">
              <a:solidFill>
                <a:srgbClr val="FF0000"/>
              </a:solidFill>
            </a:endParaRPr>
          </a:p>
          <a:p>
            <a:r>
              <a:rPr lang="es-MX" sz="2000" dirty="0">
                <a:solidFill>
                  <a:srgbClr val="FF0000"/>
                </a:solidFill>
              </a:rPr>
              <a:t>-&lt;H1&gt; , &lt;H2&gt;, &lt;P&gt; : etiquetas para mostrar texto en pantalla</a:t>
            </a:r>
          </a:p>
          <a:p>
            <a:endParaRPr lang="es-MX" sz="2000" dirty="0">
              <a:solidFill>
                <a:srgbClr val="FF0000"/>
              </a:solidFill>
            </a:endParaRPr>
          </a:p>
          <a:p>
            <a:r>
              <a:rPr lang="es-MX" sz="2000" dirty="0">
                <a:solidFill>
                  <a:srgbClr val="FF0000"/>
                </a:solidFill>
              </a:rPr>
              <a:t>-&lt;</a:t>
            </a:r>
            <a:r>
              <a:rPr lang="es-MX" sz="2000" dirty="0" err="1">
                <a:solidFill>
                  <a:srgbClr val="FF0000"/>
                </a:solidFill>
              </a:rPr>
              <a:t>Form</a:t>
            </a:r>
            <a:r>
              <a:rPr lang="es-MX" sz="2000" dirty="0">
                <a:solidFill>
                  <a:srgbClr val="FF0000"/>
                </a:solidFill>
              </a:rPr>
              <a:t>&gt; :  Se usa para ingresar datos a el software cuando se hunda el botón </a:t>
            </a:r>
            <a:r>
              <a:rPr lang="es-MX" sz="2000" dirty="0" err="1">
                <a:solidFill>
                  <a:srgbClr val="FF0000"/>
                </a:solidFill>
              </a:rPr>
              <a:t>submit</a:t>
            </a:r>
            <a:endParaRPr lang="es-MX" sz="2000" dirty="0">
              <a:solidFill>
                <a:srgbClr val="FF0000"/>
              </a:solidFill>
            </a:endParaRPr>
          </a:p>
          <a:p>
            <a:endParaRPr lang="es-MX" sz="2000" dirty="0">
              <a:solidFill>
                <a:srgbClr val="FF0000"/>
              </a:solidFill>
            </a:endParaRPr>
          </a:p>
          <a:p>
            <a:r>
              <a:rPr lang="es-MX" sz="2000" dirty="0">
                <a:solidFill>
                  <a:srgbClr val="FF0000"/>
                </a:solidFill>
              </a:rPr>
              <a:t>-&lt;Input&gt; :  Espacio donde ingresar datos al software</a:t>
            </a:r>
            <a:endParaRPr lang="es-CO" sz="20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30F96D-2550-4BCB-9C9C-EC7DA5BED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2851"/>
            <a:ext cx="5893445" cy="340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767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63E4E-5013-4CF4-A38A-D585DD08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rgbClr val="FF0000"/>
                </a:solidFill>
              </a:rPr>
              <a:t>GRACIAS</a:t>
            </a:r>
            <a:br>
              <a:rPr lang="es-MX" dirty="0">
                <a:solidFill>
                  <a:srgbClr val="FF0000"/>
                </a:solidFill>
              </a:rPr>
            </a:br>
            <a:r>
              <a:rPr lang="es-MX" dirty="0">
                <a:solidFill>
                  <a:srgbClr val="FF0000"/>
                </a:solidFill>
              </a:rPr>
              <a:t>Feliz </a:t>
            </a:r>
            <a:r>
              <a:rPr lang="es-MX" dirty="0" err="1">
                <a:solidFill>
                  <a:srgbClr val="FF0000"/>
                </a:solidFill>
              </a:rPr>
              <a:t>dia</a:t>
            </a:r>
            <a:endParaRPr lang="es-C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517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224</TotalTime>
  <Words>2476</Words>
  <Application>Microsoft Office PowerPoint</Application>
  <PresentationFormat>Panorámica</PresentationFormat>
  <Paragraphs>214</Paragraphs>
  <Slides>66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0" baseType="lpstr">
      <vt:lpstr>Arial</vt:lpstr>
      <vt:lpstr>Bookman Old Style</vt:lpstr>
      <vt:lpstr>Rockwell</vt:lpstr>
      <vt:lpstr>Damask</vt:lpstr>
      <vt:lpstr>Programación básica desde cero</vt:lpstr>
      <vt:lpstr>índice  </vt:lpstr>
      <vt:lpstr>Lenguajes de programación  </vt:lpstr>
      <vt:lpstr>Lenguajes de programación  </vt:lpstr>
      <vt:lpstr>variables </vt:lpstr>
      <vt:lpstr> VARIABLES</vt:lpstr>
      <vt:lpstr> VARIABLES</vt:lpstr>
      <vt:lpstr>variables </vt:lpstr>
      <vt:lpstr>variables </vt:lpstr>
      <vt:lpstr>variables </vt:lpstr>
      <vt:lpstr> VARIABLES</vt:lpstr>
      <vt:lpstr>VECTORES </vt:lpstr>
      <vt:lpstr>MATRICES </vt:lpstr>
      <vt:lpstr>MATRICES </vt:lpstr>
      <vt:lpstr>MATRICES </vt:lpstr>
      <vt:lpstr>MATRICES </vt:lpstr>
      <vt:lpstr>MATRICES </vt:lpstr>
      <vt:lpstr>MATRICES </vt:lpstr>
      <vt:lpstr>MATRICES </vt:lpstr>
      <vt:lpstr>MATRICES </vt:lpstr>
      <vt:lpstr>MATRICES </vt:lpstr>
      <vt:lpstr>MATRICES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condicionales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CICLOS </vt:lpstr>
      <vt:lpstr>objetos </vt:lpstr>
      <vt:lpstr>objetos </vt:lpstr>
      <vt:lpstr>objetos </vt:lpstr>
      <vt:lpstr>objetos </vt:lpstr>
      <vt:lpstr>objetos </vt:lpstr>
      <vt:lpstr>objetos </vt:lpstr>
      <vt:lpstr>OBJETOS </vt:lpstr>
      <vt:lpstr>OBJETOS </vt:lpstr>
      <vt:lpstr>BASE DE DATOS </vt:lpstr>
      <vt:lpstr>BASE DE DATOS </vt:lpstr>
      <vt:lpstr>BASE DE DATOS </vt:lpstr>
      <vt:lpstr>BASE DE DATOS </vt:lpstr>
      <vt:lpstr>BASE DE DATOS </vt:lpstr>
      <vt:lpstr>BASE DE DATOS </vt:lpstr>
      <vt:lpstr>BASE DE DATOS </vt:lpstr>
      <vt:lpstr>HTML </vt:lpstr>
      <vt:lpstr>GRACIAS Feliz 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básica desde cero</dc:title>
  <dc:creator>Sebastian Guevara Sanchez</dc:creator>
  <cp:lastModifiedBy>Sebastian Guevara Sanchez</cp:lastModifiedBy>
  <cp:revision>25</cp:revision>
  <dcterms:created xsi:type="dcterms:W3CDTF">2025-09-10T21:59:09Z</dcterms:created>
  <dcterms:modified xsi:type="dcterms:W3CDTF">2026-02-14T00:26:55Z</dcterms:modified>
</cp:coreProperties>
</file>